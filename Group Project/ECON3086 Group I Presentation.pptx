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Montserrat Ultra-Bold" charset="1" panose="00000900000000000000"/>
      <p:regular r:id="rId29"/>
    </p:embeddedFont>
    <p:embeddedFont>
      <p:font typeface="Montserrat Bold" charset="1" panose="00000800000000000000"/>
      <p:regular r:id="rId30"/>
    </p:embeddedFont>
    <p:embeddedFont>
      <p:font typeface="Montserrat" charset="1" panose="00000500000000000000"/>
      <p:regular r:id="rId31"/>
    </p:embeddedFont>
    <p:embeddedFont>
      <p:font typeface="Arial Bold" charset="1" panose="020B0704020202020204"/>
      <p:regular r:id="rId32"/>
    </p:embeddedFont>
    <p:embeddedFont>
      <p:font typeface="Courier New Italics" charset="1" panose="02070409020205090404"/>
      <p:regular r:id="rId33"/>
    </p:embeddedFont>
    <p:embeddedFont>
      <p:font typeface="Courier New Bold" charset="1" panose="02070609020205020404"/>
      <p:regular r:id="rId34"/>
    </p:embeddedFont>
    <p:embeddedFont>
      <p:font typeface="Courier New" charset="1" panose="02070309020205020404"/>
      <p:regular r:id="rId35"/>
    </p:embeddedFont>
    <p:embeddedFont>
      <p:font typeface="Aileron Bold" charset="1" panose="00000800000000000000"/>
      <p:regular r:id="rId36"/>
    </p:embeddedFont>
    <p:embeddedFont>
      <p:font typeface="Aileron" charset="1" panose="00000500000000000000"/>
      <p:regular r:id="rId37"/>
    </p:embeddedFont>
    <p:embeddedFont>
      <p:font typeface="Montserrat Bold Italics" charset="1" panose="00000800000000000000"/>
      <p:regular r:id="rId38"/>
    </p:embeddedFont>
    <p:embeddedFont>
      <p:font typeface="Montserrat Italics" charset="1" panose="0000050000000000000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https://github.com/Spagestic/aperture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97284"/>
            <a:ext cx="16230600" cy="36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0"/>
              </a:lnSpc>
            </a:pPr>
            <a:r>
              <a:rPr lang="en-US" b="true" sz="32000" spc="-3200">
                <a:solidFill>
                  <a:srgbClr val="B6B5B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aperture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26776"/>
            <a:ext cx="1484444" cy="28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2100" spc="-126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ECON3086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386312"/>
            <a:ext cx="16230600" cy="36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0"/>
              </a:lnSpc>
            </a:pPr>
            <a:r>
              <a:rPr lang="en-US" b="true" sz="32000" spc="-3200">
                <a:solidFill>
                  <a:srgbClr val="B6B5B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aperture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539055"/>
            <a:ext cx="16230600" cy="36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0"/>
              </a:lnSpc>
            </a:pPr>
            <a:r>
              <a:rPr lang="en-US" b="true" sz="32000" spc="-3200">
                <a:solidFill>
                  <a:srgbClr val="83828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aperture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844541"/>
            <a:ext cx="16230600" cy="36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0"/>
              </a:lnSpc>
            </a:pPr>
            <a:r>
              <a:rPr lang="en-US" b="true" sz="32000" spc="-3200">
                <a:solidFill>
                  <a:srgbClr val="83828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aperture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91798"/>
            <a:ext cx="16230600" cy="36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0"/>
              </a:lnSpc>
            </a:pPr>
            <a:r>
              <a:rPr lang="en-US" b="true" sz="32000" spc="-3200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aperture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90898" y="1054438"/>
            <a:ext cx="1768402" cy="2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22 April,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23227" y="1054438"/>
            <a:ext cx="4521286" cy="2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Python Programming for FinTech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46736" y="1026807"/>
            <a:ext cx="1594527" cy="28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 spc="-42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8996" y="9055735"/>
            <a:ext cx="2663924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Ginni Vishal 22203133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42028" y="9055735"/>
            <a:ext cx="2490298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Fung Dao Wen 22230467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51434" y="9055735"/>
            <a:ext cx="2973781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SADIEV Sherzodbek 22200959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44322" y="9055746"/>
            <a:ext cx="2312539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Thit Htun LIN 23200073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75968" y="9055735"/>
            <a:ext cx="2983332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THANT-THAZIN-EAIN 22202110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34204" y="2280160"/>
            <a:ext cx="8225096" cy="6978129"/>
            <a:chOff x="0" y="0"/>
            <a:chExt cx="695832" cy="590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5832" cy="590340"/>
            </a:xfrm>
            <a:custGeom>
              <a:avLst/>
              <a:gdLst/>
              <a:ahLst/>
              <a:cxnLst/>
              <a:rect r="r" b="b" t="t" l="l"/>
              <a:pathLst>
                <a:path h="590340" w="695832">
                  <a:moveTo>
                    <a:pt x="0" y="0"/>
                  </a:moveTo>
                  <a:lnTo>
                    <a:pt x="695832" y="0"/>
                  </a:lnTo>
                  <a:lnTo>
                    <a:pt x="695832" y="590340"/>
                  </a:lnTo>
                  <a:lnTo>
                    <a:pt x="0" y="59034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094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4652779"/>
            <a:ext cx="7815600" cy="4605521"/>
          </a:xfrm>
          <a:custGeom>
            <a:avLst/>
            <a:gdLst/>
            <a:ahLst/>
            <a:cxnLst/>
            <a:rect r="r" b="b" t="t" l="l"/>
            <a:pathLst>
              <a:path h="4605521" w="7815600">
                <a:moveTo>
                  <a:pt x="0" y="0"/>
                </a:moveTo>
                <a:lnTo>
                  <a:pt x="7815600" y="0"/>
                </a:lnTo>
                <a:lnTo>
                  <a:pt x="7815600" y="4605521"/>
                </a:lnTo>
                <a:lnTo>
                  <a:pt x="0" y="46055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24" t="0" r="-4779" b="-62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651635"/>
            <a:ext cx="6059484" cy="108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spc="-960" b="true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Let’s Face 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777469"/>
            <a:ext cx="7188823" cy="40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Half </a:t>
            </a: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of Polymarket is signal. Half is vibes. Traders can’t always tell which is which, and doing the research manually is slow and scattered.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26776"/>
            <a:ext cx="1484444" cy="28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2100" spc="-126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ECON3086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90898" y="1054438"/>
            <a:ext cx="1768402" cy="2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22 April,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23227" y="1054438"/>
            <a:ext cx="4521286" cy="2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Python Programming for FinTech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46736" y="1026807"/>
            <a:ext cx="1594527" cy="28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 spc="-42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3357" y="-200711"/>
            <a:ext cx="6861286" cy="1997507"/>
            <a:chOff x="0" y="0"/>
            <a:chExt cx="9148381" cy="26633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8381" cy="2663342"/>
            </a:xfrm>
            <a:custGeom>
              <a:avLst/>
              <a:gdLst/>
              <a:ahLst/>
              <a:cxnLst/>
              <a:rect r="r" b="b" t="t" l="l"/>
              <a:pathLst>
                <a:path h="2663342" w="9148381">
                  <a:moveTo>
                    <a:pt x="0" y="0"/>
                  </a:moveTo>
                  <a:lnTo>
                    <a:pt x="9148381" y="0"/>
                  </a:lnTo>
                  <a:lnTo>
                    <a:pt x="9148381" y="2663342"/>
                  </a:lnTo>
                  <a:lnTo>
                    <a:pt x="0" y="2663342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71475"/>
              <a:ext cx="9148381" cy="2291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680"/>
                </a:lnSpc>
                <a:spcBef>
                  <a:spcPct val="0"/>
                </a:spcBef>
              </a:pPr>
              <a:r>
                <a:rPr lang="en-US" b="true" sz="9600" spc="-960" strike="noStrike" u="none">
                  <a:solidFill>
                    <a:srgbClr val="1E1E1E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8823" y="1429042"/>
            <a:ext cx="7298722" cy="5944665"/>
            <a:chOff x="0" y="0"/>
            <a:chExt cx="1922297" cy="15656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2297" cy="1565673"/>
            </a:xfrm>
            <a:custGeom>
              <a:avLst/>
              <a:gdLst/>
              <a:ahLst/>
              <a:cxnLst/>
              <a:rect r="r" b="b" t="t" l="l"/>
              <a:pathLst>
                <a:path h="1565673" w="1922297">
                  <a:moveTo>
                    <a:pt x="18032" y="0"/>
                  </a:moveTo>
                  <a:lnTo>
                    <a:pt x="1904265" y="0"/>
                  </a:lnTo>
                  <a:cubicBezTo>
                    <a:pt x="1909047" y="0"/>
                    <a:pt x="1913634" y="1900"/>
                    <a:pt x="1917016" y="5282"/>
                  </a:cubicBezTo>
                  <a:cubicBezTo>
                    <a:pt x="1920397" y="8663"/>
                    <a:pt x="1922297" y="13250"/>
                    <a:pt x="1922297" y="18032"/>
                  </a:cubicBezTo>
                  <a:lnTo>
                    <a:pt x="1922297" y="1547641"/>
                  </a:lnTo>
                  <a:cubicBezTo>
                    <a:pt x="1922297" y="1552423"/>
                    <a:pt x="1920397" y="1557010"/>
                    <a:pt x="1917016" y="1560392"/>
                  </a:cubicBezTo>
                  <a:cubicBezTo>
                    <a:pt x="1913634" y="1563773"/>
                    <a:pt x="1909047" y="1565673"/>
                    <a:pt x="1904265" y="1565673"/>
                  </a:cubicBezTo>
                  <a:lnTo>
                    <a:pt x="18032" y="1565673"/>
                  </a:lnTo>
                  <a:cubicBezTo>
                    <a:pt x="13250" y="1565673"/>
                    <a:pt x="8663" y="1563773"/>
                    <a:pt x="5282" y="1560392"/>
                  </a:cubicBezTo>
                  <a:cubicBezTo>
                    <a:pt x="1900" y="1557010"/>
                    <a:pt x="0" y="1552423"/>
                    <a:pt x="0" y="1547641"/>
                  </a:cubicBezTo>
                  <a:lnTo>
                    <a:pt x="0" y="18032"/>
                  </a:lnTo>
                  <a:cubicBezTo>
                    <a:pt x="0" y="13250"/>
                    <a:pt x="1900" y="8663"/>
                    <a:pt x="5282" y="5282"/>
                  </a:cubicBezTo>
                  <a:cubicBezTo>
                    <a:pt x="8663" y="1900"/>
                    <a:pt x="13250" y="0"/>
                    <a:pt x="18032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22297" cy="1575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3161" y="1719072"/>
            <a:ext cx="7315200" cy="658368"/>
            <a:chOff x="0" y="0"/>
            <a:chExt cx="9753600" cy="8778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975360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FF4D6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SPECULATIVE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3161" y="2596896"/>
            <a:ext cx="7315200" cy="750421"/>
            <a:chOff x="0" y="0"/>
            <a:chExt cx="9753600" cy="10005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0" cy="1000561"/>
            </a:xfrm>
            <a:custGeom>
              <a:avLst/>
              <a:gdLst/>
              <a:ahLst/>
              <a:cxnLst/>
              <a:rect r="r" b="b" t="t" l="l"/>
              <a:pathLst>
                <a:path h="100056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00561"/>
                  </a:lnTo>
                  <a:lnTo>
                    <a:pt x="0" y="10005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824" r="0" b="-12406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9753600" cy="10100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101010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</a:rPr>
                <a:t>"Will X meme coin 5x?"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63161" y="3145536"/>
            <a:ext cx="7315200" cy="750421"/>
            <a:chOff x="0" y="0"/>
            <a:chExt cx="9753600" cy="10005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53600" cy="1000561"/>
            </a:xfrm>
            <a:custGeom>
              <a:avLst/>
              <a:gdLst/>
              <a:ahLst/>
              <a:cxnLst/>
              <a:rect r="r" b="b" t="t" l="l"/>
              <a:pathLst>
                <a:path h="100056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00561"/>
                  </a:lnTo>
                  <a:lnTo>
                    <a:pt x="0" y="10005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824" r="0" b="-12406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9753600" cy="10100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101010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</a:rPr>
                <a:t>"Will celeb Y pump token Z?"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3161" y="3694176"/>
            <a:ext cx="7315200" cy="750421"/>
            <a:chOff x="0" y="0"/>
            <a:chExt cx="9753600" cy="10005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3600" cy="1000561"/>
            </a:xfrm>
            <a:custGeom>
              <a:avLst/>
              <a:gdLst/>
              <a:ahLst/>
              <a:cxnLst/>
              <a:rect r="r" b="b" t="t" l="l"/>
              <a:pathLst>
                <a:path h="100056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00561"/>
                  </a:lnTo>
                  <a:lnTo>
                    <a:pt x="0" y="10005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824" r="0" b="-12406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9753600" cy="10100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101010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</a:rPr>
                <a:t>"Will vibes flip by Friday?"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3161" y="4700016"/>
            <a:ext cx="7315200" cy="750421"/>
            <a:chOff x="0" y="0"/>
            <a:chExt cx="9753600" cy="10005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753600" cy="1000561"/>
            </a:xfrm>
            <a:custGeom>
              <a:avLst/>
              <a:gdLst/>
              <a:ahLst/>
              <a:cxnLst/>
              <a:rect r="r" b="b" t="t" l="l"/>
              <a:pathLst>
                <a:path h="100056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00561"/>
                  </a:lnTo>
                  <a:lnTo>
                    <a:pt x="0" y="10005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824" r="0" b="-12406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9753600" cy="10100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AA131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✕  No public evidence base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63161" y="5340096"/>
            <a:ext cx="7315200" cy="750391"/>
            <a:chOff x="0" y="0"/>
            <a:chExt cx="9753600" cy="10005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1000521"/>
            </a:xfrm>
            <a:custGeom>
              <a:avLst/>
              <a:gdLst/>
              <a:ahLst/>
              <a:cxnLst/>
              <a:rect r="r" b="b" t="t" l="l"/>
              <a:pathLst>
                <a:path h="100052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00521"/>
                  </a:lnTo>
                  <a:lnTo>
                    <a:pt x="0" y="10005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830" r="0" b="-12407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753600" cy="101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AA131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✕  Hard to ground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63161" y="5980176"/>
            <a:ext cx="7315200" cy="750391"/>
            <a:chOff x="0" y="0"/>
            <a:chExt cx="9753600" cy="10005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1000521"/>
            </a:xfrm>
            <a:custGeom>
              <a:avLst/>
              <a:gdLst/>
              <a:ahLst/>
              <a:cxnLst/>
              <a:rect r="r" b="b" t="t" l="l"/>
              <a:pathLst>
                <a:path h="100052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00521"/>
                  </a:lnTo>
                  <a:lnTo>
                    <a:pt x="0" y="10005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830" r="0" b="-12407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9753600" cy="101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AA131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✕  Weak audit trail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88880" y="1429042"/>
            <a:ext cx="7682245" cy="5944665"/>
            <a:chOff x="0" y="0"/>
            <a:chExt cx="2023307" cy="156567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23307" cy="1565673"/>
            </a:xfrm>
            <a:custGeom>
              <a:avLst/>
              <a:gdLst/>
              <a:ahLst/>
              <a:cxnLst/>
              <a:rect r="r" b="b" t="t" l="l"/>
              <a:pathLst>
                <a:path h="1565673" w="2023307">
                  <a:moveTo>
                    <a:pt x="17132" y="0"/>
                  </a:moveTo>
                  <a:lnTo>
                    <a:pt x="2006175" y="0"/>
                  </a:lnTo>
                  <a:cubicBezTo>
                    <a:pt x="2010719" y="0"/>
                    <a:pt x="2015077" y="1805"/>
                    <a:pt x="2018289" y="5018"/>
                  </a:cubicBezTo>
                  <a:cubicBezTo>
                    <a:pt x="2021502" y="8231"/>
                    <a:pt x="2023307" y="12588"/>
                    <a:pt x="2023307" y="17132"/>
                  </a:cubicBezTo>
                  <a:lnTo>
                    <a:pt x="2023307" y="1548541"/>
                  </a:lnTo>
                  <a:cubicBezTo>
                    <a:pt x="2023307" y="1558003"/>
                    <a:pt x="2015637" y="1565673"/>
                    <a:pt x="2006175" y="1565673"/>
                  </a:cubicBezTo>
                  <a:lnTo>
                    <a:pt x="17132" y="1565673"/>
                  </a:lnTo>
                  <a:cubicBezTo>
                    <a:pt x="12588" y="1565673"/>
                    <a:pt x="8231" y="1563868"/>
                    <a:pt x="5018" y="1560655"/>
                  </a:cubicBezTo>
                  <a:cubicBezTo>
                    <a:pt x="1805" y="1557442"/>
                    <a:pt x="0" y="1553085"/>
                    <a:pt x="0" y="1548541"/>
                  </a:cubicBezTo>
                  <a:lnTo>
                    <a:pt x="0" y="17132"/>
                  </a:lnTo>
                  <a:cubicBezTo>
                    <a:pt x="0" y="12588"/>
                    <a:pt x="1805" y="8231"/>
                    <a:pt x="5018" y="5018"/>
                  </a:cubicBezTo>
                  <a:cubicBezTo>
                    <a:pt x="8231" y="1805"/>
                    <a:pt x="12588" y="0"/>
                    <a:pt x="17132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023307" cy="1575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455925" y="1719072"/>
            <a:ext cx="7315200" cy="658368"/>
            <a:chOff x="0" y="0"/>
            <a:chExt cx="9753600" cy="8778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753600" cy="877824"/>
            </a:xfrm>
            <a:custGeom>
              <a:avLst/>
              <a:gdLst/>
              <a:ahLst/>
              <a:cxnLst/>
              <a:rect r="r" b="b" t="t" l="l"/>
              <a:pathLst>
                <a:path h="87782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6500" r="0" b="-1665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75360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RESEARCHABLE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55925" y="2596896"/>
            <a:ext cx="7315200" cy="750421"/>
            <a:chOff x="0" y="0"/>
            <a:chExt cx="9753600" cy="100056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00" cy="1000561"/>
            </a:xfrm>
            <a:custGeom>
              <a:avLst/>
              <a:gdLst/>
              <a:ahLst/>
              <a:cxnLst/>
              <a:rect r="r" b="b" t="t" l="l"/>
              <a:pathLst>
                <a:path h="100056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00561"/>
                  </a:lnTo>
                  <a:lnTo>
                    <a:pt x="0" y="10005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824" r="0" b="-12406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9753600" cy="10100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101010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</a:rPr>
                <a:t>"Will CPI print below X?"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455925" y="3145536"/>
            <a:ext cx="7315200" cy="750421"/>
            <a:chOff x="0" y="0"/>
            <a:chExt cx="9753600" cy="100056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53600" cy="1000561"/>
            </a:xfrm>
            <a:custGeom>
              <a:avLst/>
              <a:gdLst/>
              <a:ahLst/>
              <a:cxnLst/>
              <a:rect r="r" b="b" t="t" l="l"/>
              <a:pathLst>
                <a:path h="100056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00561"/>
                  </a:lnTo>
                  <a:lnTo>
                    <a:pt x="0" y="10005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824" r="0" b="-12406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9753600" cy="10100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101010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</a:rPr>
                <a:t>"Will candidate A win state?"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455925" y="3694176"/>
            <a:ext cx="7315200" cy="750421"/>
            <a:chOff x="0" y="0"/>
            <a:chExt cx="9753600" cy="100056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00" cy="1000561"/>
            </a:xfrm>
            <a:custGeom>
              <a:avLst/>
              <a:gdLst/>
              <a:ahLst/>
              <a:cxnLst/>
              <a:rect r="r" b="b" t="t" l="l"/>
              <a:pathLst>
                <a:path h="100056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00561"/>
                  </a:lnTo>
                  <a:lnTo>
                    <a:pt x="0" y="10005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824" r="0" b="-12406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9753600" cy="10100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i="true">
                  <a:solidFill>
                    <a:srgbClr val="101010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</a:rPr>
                <a:t>"Will policy bill pass?"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455925" y="4700016"/>
            <a:ext cx="7315200" cy="750391"/>
            <a:chOff x="0" y="0"/>
            <a:chExt cx="9753600" cy="100052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753600" cy="1000521"/>
            </a:xfrm>
            <a:custGeom>
              <a:avLst/>
              <a:gdLst/>
              <a:ahLst/>
              <a:cxnLst/>
              <a:rect r="r" b="b" t="t" l="l"/>
              <a:pathLst>
                <a:path h="100052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00521"/>
                  </a:lnTo>
                  <a:lnTo>
                    <a:pt x="0" y="10005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830" r="0" b="-12407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9753600" cy="101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7A3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✓  Evidence exists, but scattered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455925" y="5340096"/>
            <a:ext cx="7315200" cy="750391"/>
            <a:chOff x="0" y="0"/>
            <a:chExt cx="9753600" cy="100052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53600" cy="1000521"/>
            </a:xfrm>
            <a:custGeom>
              <a:avLst/>
              <a:gdLst/>
              <a:ahLst/>
              <a:cxnLst/>
              <a:rect r="r" b="b" t="t" l="l"/>
              <a:pathLst>
                <a:path h="100052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00521"/>
                  </a:lnTo>
                  <a:lnTo>
                    <a:pt x="0" y="10005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830" r="0" b="-12407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9753600" cy="101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7A3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✓  News + filings + data sites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455925" y="5980176"/>
            <a:ext cx="7315200" cy="750391"/>
            <a:chOff x="0" y="0"/>
            <a:chExt cx="9753600" cy="100052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753600" cy="1000521"/>
            </a:xfrm>
            <a:custGeom>
              <a:avLst/>
              <a:gdLst/>
              <a:ahLst/>
              <a:cxnLst/>
              <a:rect r="r" b="b" t="t" l="l"/>
              <a:pathLst>
                <a:path h="1000521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000521"/>
                  </a:lnTo>
                  <a:lnTo>
                    <a:pt x="0" y="10005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830" r="0" b="-12407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9753600" cy="1010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7A3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✓  Tabs/screenshots don't scale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321040" y="3694176"/>
            <a:ext cx="1463040" cy="1170432"/>
            <a:chOff x="0" y="0"/>
            <a:chExt cx="1950720" cy="156057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50720" cy="1560576"/>
            </a:xfrm>
            <a:custGeom>
              <a:avLst/>
              <a:gdLst/>
              <a:ahLst/>
              <a:cxnLst/>
              <a:rect r="r" b="b" t="t" l="l"/>
              <a:pathLst>
                <a:path h="1560576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1950720" cy="15701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5B8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716380" y="2972092"/>
            <a:ext cx="2672360" cy="2672360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973482" y="7528012"/>
            <a:ext cx="10760876" cy="1097280"/>
            <a:chOff x="0" y="0"/>
            <a:chExt cx="14347835" cy="14630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347834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347834">
                  <a:moveTo>
                    <a:pt x="0" y="0"/>
                  </a:moveTo>
                  <a:lnTo>
                    <a:pt x="14347834" y="0"/>
                  </a:lnTo>
                  <a:lnTo>
                    <a:pt x="1434783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-52954" b="-242275"/>
              </a:stretch>
            </a:blipFill>
            <a:ln w="38100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4347835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Prediction markets are not the gap.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A1A1A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The research workflow is the gap.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3064677" y="8779597"/>
            <a:ext cx="12547479" cy="1084064"/>
            <a:chOff x="0" y="0"/>
            <a:chExt cx="16729972" cy="144541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6729973" cy="1445419"/>
            </a:xfrm>
            <a:custGeom>
              <a:avLst/>
              <a:gdLst/>
              <a:ahLst/>
              <a:cxnLst/>
              <a:rect r="r" b="b" t="t" l="l"/>
              <a:pathLst>
                <a:path h="1445419" w="16729973">
                  <a:moveTo>
                    <a:pt x="722709" y="0"/>
                  </a:moveTo>
                  <a:lnTo>
                    <a:pt x="16007263" y="0"/>
                  </a:lnTo>
                  <a:cubicBezTo>
                    <a:pt x="16406405" y="0"/>
                    <a:pt x="16729973" y="323568"/>
                    <a:pt x="16729973" y="722709"/>
                  </a:cubicBezTo>
                  <a:lnTo>
                    <a:pt x="16729973" y="722709"/>
                  </a:lnTo>
                  <a:cubicBezTo>
                    <a:pt x="16729973" y="914384"/>
                    <a:pt x="16653830" y="1098208"/>
                    <a:pt x="16518296" y="1233742"/>
                  </a:cubicBezTo>
                  <a:cubicBezTo>
                    <a:pt x="16382761" y="1369276"/>
                    <a:pt x="16198938" y="1445419"/>
                    <a:pt x="16007263" y="1445419"/>
                  </a:cubicBezTo>
                  <a:lnTo>
                    <a:pt x="722709" y="1445419"/>
                  </a:lnTo>
                  <a:cubicBezTo>
                    <a:pt x="323568" y="1445419"/>
                    <a:pt x="0" y="1121851"/>
                    <a:pt x="0" y="722709"/>
                  </a:cubicBezTo>
                  <a:lnTo>
                    <a:pt x="0" y="722709"/>
                  </a:lnTo>
                  <a:cubicBezTo>
                    <a:pt x="0" y="323568"/>
                    <a:pt x="323568" y="0"/>
                    <a:pt x="722709" y="0"/>
                  </a:cubicBezTo>
                  <a:close/>
                </a:path>
              </a:pathLst>
            </a:custGeom>
            <a:solidFill>
              <a:srgbClr val="F6F6F6">
                <a:alpha val="0"/>
              </a:srgbClr>
            </a:solidFill>
            <a:ln w="38100" cap="rnd">
              <a:solidFill>
                <a:srgbClr val="000000"/>
              </a:solidFill>
              <a:prstDash val="dash"/>
              <a:round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16729972" cy="145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14121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Aperture = structured + auditable + durable pipeline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14121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not a one-shot black-box answer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>
            <a:off x="1122064" y="4572292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10767060" y="4567529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5157" y="5928377"/>
            <a:ext cx="6268553" cy="3709667"/>
            <a:chOff x="0" y="0"/>
            <a:chExt cx="8358070" cy="494622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8353347" cy="608245"/>
              <a:chOff x="0" y="0"/>
              <a:chExt cx="1650044" cy="12014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650044" cy="120147"/>
              </a:xfrm>
              <a:custGeom>
                <a:avLst/>
                <a:gdLst/>
                <a:ahLst/>
                <a:cxnLst/>
                <a:rect r="r" b="b" t="t" l="l"/>
                <a:pathLst>
                  <a:path h="120147" w="1650044">
                    <a:moveTo>
                      <a:pt x="9886" y="0"/>
                    </a:moveTo>
                    <a:lnTo>
                      <a:pt x="1640158" y="0"/>
                    </a:lnTo>
                    <a:cubicBezTo>
                      <a:pt x="1645618" y="0"/>
                      <a:pt x="1650044" y="4426"/>
                      <a:pt x="1650044" y="9886"/>
                    </a:cubicBezTo>
                    <a:lnTo>
                      <a:pt x="1650044" y="110261"/>
                    </a:lnTo>
                    <a:cubicBezTo>
                      <a:pt x="1650044" y="112883"/>
                      <a:pt x="1649002" y="115398"/>
                      <a:pt x="1647148" y="117252"/>
                    </a:cubicBezTo>
                    <a:cubicBezTo>
                      <a:pt x="1645294" y="119106"/>
                      <a:pt x="1642780" y="120147"/>
                      <a:pt x="1640158" y="120147"/>
                    </a:cubicBezTo>
                    <a:lnTo>
                      <a:pt x="9886" y="120147"/>
                    </a:lnTo>
                    <a:cubicBezTo>
                      <a:pt x="7264" y="120147"/>
                      <a:pt x="4749" y="119106"/>
                      <a:pt x="2896" y="117252"/>
                    </a:cubicBezTo>
                    <a:cubicBezTo>
                      <a:pt x="1042" y="115398"/>
                      <a:pt x="0" y="112883"/>
                      <a:pt x="0" y="110261"/>
                    </a:cubicBezTo>
                    <a:lnTo>
                      <a:pt x="0" y="9886"/>
                    </a:lnTo>
                    <a:cubicBezTo>
                      <a:pt x="0" y="7264"/>
                      <a:pt x="1042" y="4749"/>
                      <a:pt x="2896" y="2896"/>
                    </a:cubicBezTo>
                    <a:cubicBezTo>
                      <a:pt x="4749" y="1042"/>
                      <a:pt x="7264" y="0"/>
                      <a:pt x="9886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28575"/>
                <a:ext cx="1650044" cy="91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  <a:r>
                  <a:rPr lang="en-US" sz="1800" spc="-36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Classify</a:t>
                </a: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4723" y="1084495"/>
              <a:ext cx="8353347" cy="608245"/>
              <a:chOff x="0" y="0"/>
              <a:chExt cx="1650044" cy="12014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650044" cy="120147"/>
              </a:xfrm>
              <a:custGeom>
                <a:avLst/>
                <a:gdLst/>
                <a:ahLst/>
                <a:cxnLst/>
                <a:rect r="r" b="b" t="t" l="l"/>
                <a:pathLst>
                  <a:path h="120147" w="1650044">
                    <a:moveTo>
                      <a:pt x="9886" y="0"/>
                    </a:moveTo>
                    <a:lnTo>
                      <a:pt x="1640158" y="0"/>
                    </a:lnTo>
                    <a:cubicBezTo>
                      <a:pt x="1645618" y="0"/>
                      <a:pt x="1650044" y="4426"/>
                      <a:pt x="1650044" y="9886"/>
                    </a:cubicBezTo>
                    <a:lnTo>
                      <a:pt x="1650044" y="110261"/>
                    </a:lnTo>
                    <a:cubicBezTo>
                      <a:pt x="1650044" y="112883"/>
                      <a:pt x="1649002" y="115398"/>
                      <a:pt x="1647148" y="117252"/>
                    </a:cubicBezTo>
                    <a:cubicBezTo>
                      <a:pt x="1645294" y="119106"/>
                      <a:pt x="1642780" y="120147"/>
                      <a:pt x="1640158" y="120147"/>
                    </a:cubicBezTo>
                    <a:lnTo>
                      <a:pt x="9886" y="120147"/>
                    </a:lnTo>
                    <a:cubicBezTo>
                      <a:pt x="7264" y="120147"/>
                      <a:pt x="4749" y="119106"/>
                      <a:pt x="2896" y="117252"/>
                    </a:cubicBezTo>
                    <a:cubicBezTo>
                      <a:pt x="1042" y="115398"/>
                      <a:pt x="0" y="112883"/>
                      <a:pt x="0" y="110261"/>
                    </a:cubicBezTo>
                    <a:lnTo>
                      <a:pt x="0" y="9886"/>
                    </a:lnTo>
                    <a:cubicBezTo>
                      <a:pt x="0" y="7264"/>
                      <a:pt x="1042" y="4749"/>
                      <a:pt x="2896" y="2896"/>
                    </a:cubicBezTo>
                    <a:cubicBezTo>
                      <a:pt x="4749" y="1042"/>
                      <a:pt x="7264" y="0"/>
                      <a:pt x="9886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28575"/>
                <a:ext cx="1650044" cy="91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  <a:r>
                  <a:rPr lang="en-US" sz="1800" spc="-36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Plan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4723" y="2168989"/>
              <a:ext cx="8353347" cy="608245"/>
              <a:chOff x="0" y="0"/>
              <a:chExt cx="1650044" cy="12014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650044" cy="120147"/>
              </a:xfrm>
              <a:custGeom>
                <a:avLst/>
                <a:gdLst/>
                <a:ahLst/>
                <a:cxnLst/>
                <a:rect r="r" b="b" t="t" l="l"/>
                <a:pathLst>
                  <a:path h="120147" w="1650044">
                    <a:moveTo>
                      <a:pt x="9886" y="0"/>
                    </a:moveTo>
                    <a:lnTo>
                      <a:pt x="1640158" y="0"/>
                    </a:lnTo>
                    <a:cubicBezTo>
                      <a:pt x="1645618" y="0"/>
                      <a:pt x="1650044" y="4426"/>
                      <a:pt x="1650044" y="9886"/>
                    </a:cubicBezTo>
                    <a:lnTo>
                      <a:pt x="1650044" y="110261"/>
                    </a:lnTo>
                    <a:cubicBezTo>
                      <a:pt x="1650044" y="112883"/>
                      <a:pt x="1649002" y="115398"/>
                      <a:pt x="1647148" y="117252"/>
                    </a:cubicBezTo>
                    <a:cubicBezTo>
                      <a:pt x="1645294" y="119106"/>
                      <a:pt x="1642780" y="120147"/>
                      <a:pt x="1640158" y="120147"/>
                    </a:cubicBezTo>
                    <a:lnTo>
                      <a:pt x="9886" y="120147"/>
                    </a:lnTo>
                    <a:cubicBezTo>
                      <a:pt x="7264" y="120147"/>
                      <a:pt x="4749" y="119106"/>
                      <a:pt x="2896" y="117252"/>
                    </a:cubicBezTo>
                    <a:cubicBezTo>
                      <a:pt x="1042" y="115398"/>
                      <a:pt x="0" y="112883"/>
                      <a:pt x="0" y="110261"/>
                    </a:cubicBezTo>
                    <a:lnTo>
                      <a:pt x="0" y="9886"/>
                    </a:lnTo>
                    <a:cubicBezTo>
                      <a:pt x="0" y="7264"/>
                      <a:pt x="1042" y="4749"/>
                      <a:pt x="2896" y="2896"/>
                    </a:cubicBezTo>
                    <a:cubicBezTo>
                      <a:pt x="4749" y="1042"/>
                      <a:pt x="7264" y="0"/>
                      <a:pt x="9886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28575"/>
                <a:ext cx="1650044" cy="91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  <a:r>
                  <a:rPr lang="en-US" sz="1800" spc="-36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Search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4723" y="3253484"/>
              <a:ext cx="8353347" cy="608245"/>
              <a:chOff x="0" y="0"/>
              <a:chExt cx="1650044" cy="12014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50044" cy="120147"/>
              </a:xfrm>
              <a:custGeom>
                <a:avLst/>
                <a:gdLst/>
                <a:ahLst/>
                <a:cxnLst/>
                <a:rect r="r" b="b" t="t" l="l"/>
                <a:pathLst>
                  <a:path h="120147" w="1650044">
                    <a:moveTo>
                      <a:pt x="9886" y="0"/>
                    </a:moveTo>
                    <a:lnTo>
                      <a:pt x="1640158" y="0"/>
                    </a:lnTo>
                    <a:cubicBezTo>
                      <a:pt x="1645618" y="0"/>
                      <a:pt x="1650044" y="4426"/>
                      <a:pt x="1650044" y="9886"/>
                    </a:cubicBezTo>
                    <a:lnTo>
                      <a:pt x="1650044" y="110261"/>
                    </a:lnTo>
                    <a:cubicBezTo>
                      <a:pt x="1650044" y="112883"/>
                      <a:pt x="1649002" y="115398"/>
                      <a:pt x="1647148" y="117252"/>
                    </a:cubicBezTo>
                    <a:cubicBezTo>
                      <a:pt x="1645294" y="119106"/>
                      <a:pt x="1642780" y="120147"/>
                      <a:pt x="1640158" y="120147"/>
                    </a:cubicBezTo>
                    <a:lnTo>
                      <a:pt x="9886" y="120147"/>
                    </a:lnTo>
                    <a:cubicBezTo>
                      <a:pt x="7264" y="120147"/>
                      <a:pt x="4749" y="119106"/>
                      <a:pt x="2896" y="117252"/>
                    </a:cubicBezTo>
                    <a:cubicBezTo>
                      <a:pt x="1042" y="115398"/>
                      <a:pt x="0" y="112883"/>
                      <a:pt x="0" y="110261"/>
                    </a:cubicBezTo>
                    <a:lnTo>
                      <a:pt x="0" y="9886"/>
                    </a:lnTo>
                    <a:cubicBezTo>
                      <a:pt x="0" y="7264"/>
                      <a:pt x="1042" y="4749"/>
                      <a:pt x="2896" y="2896"/>
                    </a:cubicBezTo>
                    <a:cubicBezTo>
                      <a:pt x="4749" y="1042"/>
                      <a:pt x="7264" y="0"/>
                      <a:pt x="9886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28575"/>
                <a:ext cx="1650044" cy="91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  <a:r>
                  <a:rPr lang="en-US" sz="1800" spc="-36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Synthesize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4723" y="4337978"/>
              <a:ext cx="8353347" cy="608245"/>
              <a:chOff x="0" y="0"/>
              <a:chExt cx="1650044" cy="12014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650044" cy="120147"/>
              </a:xfrm>
              <a:custGeom>
                <a:avLst/>
                <a:gdLst/>
                <a:ahLst/>
                <a:cxnLst/>
                <a:rect r="r" b="b" t="t" l="l"/>
                <a:pathLst>
                  <a:path h="120147" w="1650044">
                    <a:moveTo>
                      <a:pt x="9886" y="0"/>
                    </a:moveTo>
                    <a:lnTo>
                      <a:pt x="1640158" y="0"/>
                    </a:lnTo>
                    <a:cubicBezTo>
                      <a:pt x="1645618" y="0"/>
                      <a:pt x="1650044" y="4426"/>
                      <a:pt x="1650044" y="9886"/>
                    </a:cubicBezTo>
                    <a:lnTo>
                      <a:pt x="1650044" y="110261"/>
                    </a:lnTo>
                    <a:cubicBezTo>
                      <a:pt x="1650044" y="112883"/>
                      <a:pt x="1649002" y="115398"/>
                      <a:pt x="1647148" y="117252"/>
                    </a:cubicBezTo>
                    <a:cubicBezTo>
                      <a:pt x="1645294" y="119106"/>
                      <a:pt x="1642780" y="120147"/>
                      <a:pt x="1640158" y="120147"/>
                    </a:cubicBezTo>
                    <a:lnTo>
                      <a:pt x="9886" y="120147"/>
                    </a:lnTo>
                    <a:cubicBezTo>
                      <a:pt x="7264" y="120147"/>
                      <a:pt x="4749" y="119106"/>
                      <a:pt x="2896" y="117252"/>
                    </a:cubicBezTo>
                    <a:cubicBezTo>
                      <a:pt x="1042" y="115398"/>
                      <a:pt x="0" y="112883"/>
                      <a:pt x="0" y="110261"/>
                    </a:cubicBezTo>
                    <a:lnTo>
                      <a:pt x="0" y="9886"/>
                    </a:lnTo>
                    <a:cubicBezTo>
                      <a:pt x="0" y="7264"/>
                      <a:pt x="1042" y="4749"/>
                      <a:pt x="2896" y="2896"/>
                    </a:cubicBezTo>
                    <a:cubicBezTo>
                      <a:pt x="4749" y="1042"/>
                      <a:pt x="7264" y="0"/>
                      <a:pt x="9886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28575"/>
                <a:ext cx="1650044" cy="915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  <a:r>
                  <a:rPr lang="en-US" sz="1800" spc="-36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Recommend</a:t>
                </a:r>
              </a:p>
            </p:txBody>
          </p:sp>
        </p:grpSp>
        <p:sp>
          <p:nvSpPr>
            <p:cNvPr name="AutoShape 18" id="18"/>
            <p:cNvSpPr/>
            <p:nvPr/>
          </p:nvSpPr>
          <p:spPr>
            <a:xfrm>
              <a:off x="4176673" y="608245"/>
              <a:ext cx="4723" cy="476250"/>
            </a:xfrm>
            <a:prstGeom prst="line">
              <a:avLst/>
            </a:prstGeom>
            <a:ln cap="flat" w="25400">
              <a:solidFill>
                <a:srgbClr val="838282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4181397" y="1692739"/>
              <a:ext cx="0" cy="476250"/>
            </a:xfrm>
            <a:prstGeom prst="line">
              <a:avLst/>
            </a:prstGeom>
            <a:ln cap="flat" w="25400">
              <a:solidFill>
                <a:srgbClr val="838282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4181397" y="2777234"/>
              <a:ext cx="0" cy="476250"/>
            </a:xfrm>
            <a:prstGeom prst="line">
              <a:avLst/>
            </a:prstGeom>
            <a:ln cap="flat" w="25400">
              <a:solidFill>
                <a:srgbClr val="838282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4181397" y="3861728"/>
              <a:ext cx="0" cy="476250"/>
            </a:xfrm>
            <a:prstGeom prst="line">
              <a:avLst/>
            </a:prstGeom>
            <a:ln cap="flat" w="25400">
              <a:solidFill>
                <a:srgbClr val="838282"/>
              </a:solidFill>
              <a:prstDash val="solid"/>
              <a:headEnd type="none" len="sm" w="sm"/>
              <a:tailEnd type="triangle" len="med" w="lg"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215639" y="2361760"/>
            <a:ext cx="9043661" cy="8148341"/>
            <a:chOff x="0" y="0"/>
            <a:chExt cx="2381870" cy="21460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81870" cy="2146065"/>
            </a:xfrm>
            <a:custGeom>
              <a:avLst/>
              <a:gdLst/>
              <a:ahLst/>
              <a:cxnLst/>
              <a:rect r="r" b="b" t="t" l="l"/>
              <a:pathLst>
                <a:path h="2146065" w="2381870">
                  <a:moveTo>
                    <a:pt x="13697" y="0"/>
                  </a:moveTo>
                  <a:lnTo>
                    <a:pt x="2368173" y="0"/>
                  </a:lnTo>
                  <a:cubicBezTo>
                    <a:pt x="2375737" y="0"/>
                    <a:pt x="2381870" y="6132"/>
                    <a:pt x="2381870" y="13697"/>
                  </a:cubicBezTo>
                  <a:lnTo>
                    <a:pt x="2381870" y="2132368"/>
                  </a:lnTo>
                  <a:cubicBezTo>
                    <a:pt x="2381870" y="2139933"/>
                    <a:pt x="2375737" y="2146065"/>
                    <a:pt x="2368173" y="2146065"/>
                  </a:cubicBezTo>
                  <a:lnTo>
                    <a:pt x="13697" y="2146065"/>
                  </a:lnTo>
                  <a:cubicBezTo>
                    <a:pt x="6132" y="2146065"/>
                    <a:pt x="0" y="2139933"/>
                    <a:pt x="0" y="2132368"/>
                  </a:cubicBezTo>
                  <a:lnTo>
                    <a:pt x="0" y="13697"/>
                  </a:lnTo>
                  <a:cubicBezTo>
                    <a:pt x="0" y="6132"/>
                    <a:pt x="6132" y="0"/>
                    <a:pt x="13697" y="0"/>
                  </a:cubicBezTo>
                  <a:close/>
                </a:path>
              </a:pathLst>
            </a:custGeom>
            <a:solidFill>
              <a:srgbClr val="171717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38100"/>
              <a:ext cx="2381870" cy="2107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425544" y="2564476"/>
            <a:ext cx="8623851" cy="7722524"/>
            <a:chOff x="0" y="0"/>
            <a:chExt cx="762382" cy="68270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2382" cy="682701"/>
            </a:xfrm>
            <a:custGeom>
              <a:avLst/>
              <a:gdLst/>
              <a:ahLst/>
              <a:cxnLst/>
              <a:rect r="r" b="b" t="t" l="l"/>
              <a:pathLst>
                <a:path h="682701" w="762382">
                  <a:moveTo>
                    <a:pt x="0" y="0"/>
                  </a:moveTo>
                  <a:lnTo>
                    <a:pt x="762382" y="0"/>
                  </a:lnTo>
                  <a:lnTo>
                    <a:pt x="762382" y="682701"/>
                  </a:lnTo>
                  <a:lnTo>
                    <a:pt x="0" y="682701"/>
                  </a:lnTo>
                  <a:close/>
                </a:path>
              </a:pathLst>
            </a:custGeom>
            <a:blipFill>
              <a:blip r:embed="rId2"/>
              <a:stretch>
                <a:fillRect l="0" t="-182" r="0" b="-182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28700" y="2523685"/>
            <a:ext cx="6261468" cy="470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4200" spc="-294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Introducing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4587094"/>
            <a:ext cx="6265010" cy="8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99"/>
              </a:lnSpc>
            </a:pPr>
            <a:r>
              <a:rPr lang="en-US" sz="1799" spc="-3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 Convex‑native research agent that decides whether a Polymarket event is researchable and, if it is, produces a sourced memo and a suggested market and side, with every step persisted and resumable.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3365725"/>
            <a:ext cx="6265010" cy="108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spc="-672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Aperture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1026776"/>
            <a:ext cx="1484444" cy="28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2100" spc="-126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ECON3086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490898" y="1054438"/>
            <a:ext cx="1768402" cy="2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22 April, 2026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623227" y="1054438"/>
            <a:ext cx="4521286" cy="2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Python Programming for FinTech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46736" y="1026807"/>
            <a:ext cx="1594527" cy="28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 spc="-42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997573" y="2657039"/>
            <a:ext cx="22283145" cy="223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0"/>
              </a:lnSpc>
            </a:pPr>
            <a:r>
              <a:rPr lang="en-US" b="true" sz="19500" spc="-1950">
                <a:solidFill>
                  <a:srgbClr val="B6B5B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User Experience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1997573" y="6125004"/>
            <a:ext cx="22283145" cy="223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0"/>
              </a:lnSpc>
            </a:pPr>
            <a:r>
              <a:rPr lang="en-US" b="true" sz="19500" spc="-1950">
                <a:solidFill>
                  <a:srgbClr val="B6B5B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User Experience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1997573" y="5198799"/>
            <a:ext cx="22283145" cy="223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0"/>
              </a:lnSpc>
            </a:pPr>
            <a:r>
              <a:rPr lang="en-US" b="true" sz="19500" spc="-1950">
                <a:solidFill>
                  <a:srgbClr val="83828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User Experience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997573" y="3504296"/>
            <a:ext cx="22283145" cy="223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0"/>
              </a:lnSpc>
            </a:pPr>
            <a:r>
              <a:rPr lang="en-US" b="true" sz="19500" spc="-1950">
                <a:solidFill>
                  <a:srgbClr val="83828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User Experience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997573" y="4351542"/>
            <a:ext cx="22283145" cy="223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0"/>
              </a:lnSpc>
            </a:pPr>
            <a:r>
              <a:rPr lang="en-US" b="true" sz="19500" spc="-1950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User Experience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66800"/>
            <a:ext cx="1484444" cy="28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2100" spc="-126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ECON3086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90898" y="1094462"/>
            <a:ext cx="1768402" cy="2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22 April,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23227" y="1089676"/>
            <a:ext cx="4521286" cy="2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Python Programming for FinTech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8996" y="9055735"/>
            <a:ext cx="2663924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Ginni Vishal 22203133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42028" y="9055735"/>
            <a:ext cx="2490298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Fung Dao Wen 22230467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51434" y="9055735"/>
            <a:ext cx="2973781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SADIEV Sherzodbek 22200959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44322" y="9055746"/>
            <a:ext cx="2312539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Thit Htun LIN 23200073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75968" y="9055735"/>
            <a:ext cx="2983332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THANT-THAZIN-EAIN 22202110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46736" y="1026807"/>
            <a:ext cx="1594527" cy="28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 spc="-42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6447" y="1212227"/>
            <a:ext cx="7099779" cy="303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spc="-960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How</a:t>
            </a:r>
          </a:p>
          <a:p>
            <a:pPr algn="l">
              <a:lnSpc>
                <a:spcPts val="7680"/>
              </a:lnSpc>
            </a:pPr>
            <a:r>
              <a:rPr lang="en-US" sz="9600" spc="-960" b="true">
                <a:solidFill>
                  <a:srgbClr val="285B5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Aperture</a:t>
            </a:r>
          </a:p>
          <a:p>
            <a:pPr algn="l">
              <a:lnSpc>
                <a:spcPts val="7680"/>
              </a:lnSpc>
            </a:pPr>
            <a:r>
              <a:rPr lang="en-US" sz="9600" spc="-960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Works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203100" y="1028700"/>
            <a:ext cx="11084900" cy="6594436"/>
            <a:chOff x="0" y="0"/>
            <a:chExt cx="1931159" cy="11488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31159" cy="1148852"/>
            </a:xfrm>
            <a:custGeom>
              <a:avLst/>
              <a:gdLst/>
              <a:ahLst/>
              <a:cxnLst/>
              <a:rect r="r" b="b" t="t" l="l"/>
              <a:pathLst>
                <a:path h="1148852" w="1931159">
                  <a:moveTo>
                    <a:pt x="10476" y="0"/>
                  </a:moveTo>
                  <a:lnTo>
                    <a:pt x="1920683" y="0"/>
                  </a:lnTo>
                  <a:cubicBezTo>
                    <a:pt x="1923461" y="0"/>
                    <a:pt x="1926126" y="1104"/>
                    <a:pt x="1928091" y="3068"/>
                  </a:cubicBezTo>
                  <a:cubicBezTo>
                    <a:pt x="1930055" y="5033"/>
                    <a:pt x="1931159" y="7698"/>
                    <a:pt x="1931159" y="10476"/>
                  </a:cubicBezTo>
                  <a:lnTo>
                    <a:pt x="1931159" y="1138375"/>
                  </a:lnTo>
                  <a:cubicBezTo>
                    <a:pt x="1931159" y="1141154"/>
                    <a:pt x="1930055" y="1143819"/>
                    <a:pt x="1928091" y="1145783"/>
                  </a:cubicBezTo>
                  <a:cubicBezTo>
                    <a:pt x="1926126" y="1147748"/>
                    <a:pt x="1923461" y="1148852"/>
                    <a:pt x="1920683" y="1148852"/>
                  </a:cubicBezTo>
                  <a:lnTo>
                    <a:pt x="10476" y="1148852"/>
                  </a:lnTo>
                  <a:cubicBezTo>
                    <a:pt x="7698" y="1148852"/>
                    <a:pt x="5033" y="1147748"/>
                    <a:pt x="3068" y="1145783"/>
                  </a:cubicBezTo>
                  <a:cubicBezTo>
                    <a:pt x="1104" y="1143819"/>
                    <a:pt x="0" y="1141154"/>
                    <a:pt x="0" y="1138375"/>
                  </a:cubicBezTo>
                  <a:lnTo>
                    <a:pt x="0" y="10476"/>
                  </a:lnTo>
                  <a:cubicBezTo>
                    <a:pt x="0" y="7698"/>
                    <a:pt x="1104" y="5033"/>
                    <a:pt x="3068" y="3068"/>
                  </a:cubicBezTo>
                  <a:cubicBezTo>
                    <a:pt x="5033" y="1104"/>
                    <a:pt x="7698" y="0"/>
                    <a:pt x="1047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490" r="0" b="-777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249045" y="619322"/>
            <a:ext cx="1768402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9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22 Apr,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1822" y="558997"/>
            <a:ext cx="4309525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2099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Experience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6447" y="4958095"/>
            <a:ext cx="4658938" cy="33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b="true" sz="2499" spc="-49" u="sng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Fast Scanning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6447" y="6584329"/>
            <a:ext cx="3220628" cy="33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b="true" sz="2499" spc="-49" u="sng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Relevant Context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6447" y="8210059"/>
            <a:ext cx="3220628" cy="33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b="true" sz="2499" spc="-49" u="sng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Low Friction 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6447" y="5781054"/>
            <a:ext cx="679389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-4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Users compare multiple markets at a glance.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1822" y="7407288"/>
            <a:ext cx="679389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-4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Tags, dates, volume, and liquidity stay visible.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1822" y="8988425"/>
            <a:ext cx="679389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-4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Discovery leads directly into the event page.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90272" y="8398972"/>
            <a:ext cx="953728" cy="330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b="true" sz="2499" spc="-49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Scan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305572" y="8398972"/>
            <a:ext cx="953728" cy="330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b="true" sz="2499" spc="-49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Enter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76649" y="8398972"/>
            <a:ext cx="1438376" cy="330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b="true" sz="2499" spc="-49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Compare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53831" y="8909051"/>
            <a:ext cx="3971051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 spc="-36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Read the dashboard quickly.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15407" y="8909051"/>
            <a:ext cx="2407671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 spc="-36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Check market context.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51241" y="8909051"/>
            <a:ext cx="2462389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 spc="-36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Open the selected event.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1822" y="403740"/>
            <a:ext cx="4309525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2099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Experience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1822" y="1393840"/>
            <a:ext cx="7099779" cy="303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spc="-960" b="true">
                <a:solidFill>
                  <a:srgbClr val="285B5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Entering</a:t>
            </a:r>
          </a:p>
          <a:p>
            <a:pPr algn="l">
              <a:lnSpc>
                <a:spcPts val="7680"/>
              </a:lnSpc>
            </a:pPr>
            <a:r>
              <a:rPr lang="en-US" sz="9600" spc="-960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the </a:t>
            </a:r>
          </a:p>
          <a:p>
            <a:pPr algn="l">
              <a:lnSpc>
                <a:spcPts val="7680"/>
              </a:lnSpc>
            </a:pPr>
            <a:r>
              <a:rPr lang="en-US" sz="9600" spc="-960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System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832215" y="224548"/>
            <a:ext cx="10221278" cy="8315710"/>
            <a:chOff x="0" y="0"/>
            <a:chExt cx="2018813" cy="16424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8813" cy="1642443"/>
            </a:xfrm>
            <a:custGeom>
              <a:avLst/>
              <a:gdLst/>
              <a:ahLst/>
              <a:cxnLst/>
              <a:rect r="r" b="b" t="t" l="l"/>
              <a:pathLst>
                <a:path h="1642443" w="2018813">
                  <a:moveTo>
                    <a:pt x="11361" y="0"/>
                  </a:moveTo>
                  <a:lnTo>
                    <a:pt x="2007452" y="0"/>
                  </a:lnTo>
                  <a:cubicBezTo>
                    <a:pt x="2010465" y="0"/>
                    <a:pt x="2013355" y="1197"/>
                    <a:pt x="2015486" y="3328"/>
                  </a:cubicBezTo>
                  <a:cubicBezTo>
                    <a:pt x="2017616" y="5458"/>
                    <a:pt x="2018813" y="8348"/>
                    <a:pt x="2018813" y="11361"/>
                  </a:cubicBezTo>
                  <a:lnTo>
                    <a:pt x="2018813" y="1631081"/>
                  </a:lnTo>
                  <a:cubicBezTo>
                    <a:pt x="2018813" y="1634095"/>
                    <a:pt x="2017616" y="1636985"/>
                    <a:pt x="2015486" y="1639115"/>
                  </a:cubicBezTo>
                  <a:cubicBezTo>
                    <a:pt x="2013355" y="1641246"/>
                    <a:pt x="2010465" y="1642443"/>
                    <a:pt x="2007452" y="1642443"/>
                  </a:cubicBezTo>
                  <a:lnTo>
                    <a:pt x="11361" y="1642443"/>
                  </a:lnTo>
                  <a:cubicBezTo>
                    <a:pt x="8348" y="1642443"/>
                    <a:pt x="5458" y="1641246"/>
                    <a:pt x="3328" y="1639115"/>
                  </a:cubicBezTo>
                  <a:cubicBezTo>
                    <a:pt x="1197" y="1636985"/>
                    <a:pt x="0" y="1634095"/>
                    <a:pt x="0" y="1631081"/>
                  </a:cubicBezTo>
                  <a:lnTo>
                    <a:pt x="0" y="11361"/>
                  </a:lnTo>
                  <a:cubicBezTo>
                    <a:pt x="0" y="8348"/>
                    <a:pt x="1197" y="5458"/>
                    <a:pt x="3328" y="3328"/>
                  </a:cubicBezTo>
                  <a:cubicBezTo>
                    <a:pt x="5458" y="1197"/>
                    <a:pt x="8348" y="0"/>
                    <a:pt x="11361" y="0"/>
                  </a:cubicBezTo>
                  <a:close/>
                </a:path>
              </a:pathLst>
            </a:custGeom>
            <a:blipFill>
              <a:blip r:embed="rId2"/>
              <a:stretch>
                <a:fillRect l="-12582" t="0" r="-12582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464641" y="8904200"/>
            <a:ext cx="1149084" cy="330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b="true" sz="2499" spc="-49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Browse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80502" y="8904200"/>
            <a:ext cx="1154925" cy="330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b="true" sz="2499" spc="-49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Analyze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51019" y="8904200"/>
            <a:ext cx="1438376" cy="330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b="true" sz="2499" spc="-49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Open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46421" y="9414280"/>
            <a:ext cx="1985525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 spc="-36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Scan the market list.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39018" y="9414280"/>
            <a:ext cx="2407671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 spc="-36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Review the event page.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34766" y="9414280"/>
            <a:ext cx="2853234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 spc="-36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Move into deeper analysis.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6447" y="4958095"/>
            <a:ext cx="4658938" cy="33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b="true" sz="2499" spc="-49" u="sng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Research-first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6447" y="6584329"/>
            <a:ext cx="3220628" cy="33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b="true" sz="2499" spc="-49" u="sng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Event-centric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6447" y="8210059"/>
            <a:ext cx="3220628" cy="33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b="true" sz="2499" spc="-49" u="sng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Built for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6447" y="5781054"/>
            <a:ext cx="679389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-4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 </a:t>
            </a:r>
            <a:r>
              <a:rPr lang="en-US" sz="2000" spc="-4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structured interface for evaluating Polymarket events.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71822" y="7407288"/>
            <a:ext cx="679389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-4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</a:t>
            </a:r>
            <a:r>
              <a:rPr lang="en-US" sz="2000" spc="-4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ach market opens into a dedicated event workspace.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1822" y="8988425"/>
            <a:ext cx="6793895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2000" spc="-4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From d</a:t>
            </a:r>
            <a:r>
              <a:rPr lang="en-US" sz="2000" spc="-4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iscovery to evidence-based analysis.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31690"/>
            <a:ext cx="11608134" cy="6167684"/>
            <a:chOff x="0" y="0"/>
            <a:chExt cx="1381170" cy="7338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1170" cy="733849"/>
            </a:xfrm>
            <a:custGeom>
              <a:avLst/>
              <a:gdLst/>
              <a:ahLst/>
              <a:cxnLst/>
              <a:rect r="r" b="b" t="t" l="l"/>
              <a:pathLst>
                <a:path h="733849" w="1381170">
                  <a:moveTo>
                    <a:pt x="14673" y="0"/>
                  </a:moveTo>
                  <a:lnTo>
                    <a:pt x="1366497" y="0"/>
                  </a:lnTo>
                  <a:cubicBezTo>
                    <a:pt x="1374600" y="0"/>
                    <a:pt x="1381170" y="6569"/>
                    <a:pt x="1381170" y="14673"/>
                  </a:cubicBezTo>
                  <a:lnTo>
                    <a:pt x="1381170" y="719176"/>
                  </a:lnTo>
                  <a:cubicBezTo>
                    <a:pt x="1381170" y="723068"/>
                    <a:pt x="1379624" y="726800"/>
                    <a:pt x="1376872" y="729552"/>
                  </a:cubicBezTo>
                  <a:cubicBezTo>
                    <a:pt x="1374120" y="732303"/>
                    <a:pt x="1370388" y="733849"/>
                    <a:pt x="1366497" y="733849"/>
                  </a:cubicBezTo>
                  <a:lnTo>
                    <a:pt x="14673" y="733849"/>
                  </a:lnTo>
                  <a:cubicBezTo>
                    <a:pt x="6569" y="733849"/>
                    <a:pt x="0" y="727280"/>
                    <a:pt x="0" y="719176"/>
                  </a:cubicBezTo>
                  <a:lnTo>
                    <a:pt x="0" y="14673"/>
                  </a:lnTo>
                  <a:cubicBezTo>
                    <a:pt x="0" y="6569"/>
                    <a:pt x="6569" y="0"/>
                    <a:pt x="14673" y="0"/>
                  </a:cubicBezTo>
                  <a:close/>
                </a:path>
              </a:pathLst>
            </a:custGeom>
            <a:blipFill>
              <a:blip r:embed="rId2"/>
              <a:stretch>
                <a:fillRect l="-1211" t="0" r="-12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608134" y="3311749"/>
            <a:ext cx="6679866" cy="6975251"/>
            <a:chOff x="0" y="0"/>
            <a:chExt cx="794790" cy="8299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4790" cy="829936"/>
            </a:xfrm>
            <a:custGeom>
              <a:avLst/>
              <a:gdLst/>
              <a:ahLst/>
              <a:cxnLst/>
              <a:rect r="r" b="b" t="t" l="l"/>
              <a:pathLst>
                <a:path h="829936" w="794790">
                  <a:moveTo>
                    <a:pt x="25498" y="0"/>
                  </a:moveTo>
                  <a:lnTo>
                    <a:pt x="769292" y="0"/>
                  </a:lnTo>
                  <a:cubicBezTo>
                    <a:pt x="776055" y="0"/>
                    <a:pt x="782540" y="2686"/>
                    <a:pt x="787322" y="7468"/>
                  </a:cubicBezTo>
                  <a:cubicBezTo>
                    <a:pt x="792104" y="12250"/>
                    <a:pt x="794790" y="18735"/>
                    <a:pt x="794790" y="25498"/>
                  </a:cubicBezTo>
                  <a:lnTo>
                    <a:pt x="794790" y="804438"/>
                  </a:lnTo>
                  <a:cubicBezTo>
                    <a:pt x="794790" y="811200"/>
                    <a:pt x="792104" y="817686"/>
                    <a:pt x="787322" y="822468"/>
                  </a:cubicBezTo>
                  <a:cubicBezTo>
                    <a:pt x="782540" y="827249"/>
                    <a:pt x="776055" y="829936"/>
                    <a:pt x="769292" y="829936"/>
                  </a:cubicBezTo>
                  <a:lnTo>
                    <a:pt x="25498" y="829936"/>
                  </a:lnTo>
                  <a:cubicBezTo>
                    <a:pt x="18735" y="829936"/>
                    <a:pt x="12250" y="827249"/>
                    <a:pt x="7468" y="822468"/>
                  </a:cubicBezTo>
                  <a:cubicBezTo>
                    <a:pt x="2686" y="817686"/>
                    <a:pt x="0" y="811200"/>
                    <a:pt x="0" y="804438"/>
                  </a:cubicBezTo>
                  <a:lnTo>
                    <a:pt x="0" y="25498"/>
                  </a:lnTo>
                  <a:cubicBezTo>
                    <a:pt x="0" y="18735"/>
                    <a:pt x="2686" y="12250"/>
                    <a:pt x="7468" y="7468"/>
                  </a:cubicBezTo>
                  <a:cubicBezTo>
                    <a:pt x="12250" y="2686"/>
                    <a:pt x="18735" y="0"/>
                    <a:pt x="25498" y="0"/>
                  </a:cubicBezTo>
                  <a:close/>
                </a:path>
              </a:pathLst>
            </a:custGeom>
            <a:blipFill>
              <a:blip r:embed="rId3"/>
              <a:stretch>
                <a:fillRect l="-14707" t="0" r="-1470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01297" y="7117387"/>
            <a:ext cx="11260929" cy="205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spc="-960" b="true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Analyze the</a:t>
            </a:r>
          </a:p>
          <a:p>
            <a:pPr algn="l">
              <a:lnSpc>
                <a:spcPts val="7680"/>
              </a:lnSpc>
            </a:pPr>
            <a:r>
              <a:rPr lang="en-US" sz="9600" spc="-960" b="true">
                <a:solidFill>
                  <a:srgbClr val="285B5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8910" y="9584735"/>
            <a:ext cx="1985525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-43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No WebSockets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33983" y="9584735"/>
            <a:ext cx="1676945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-43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No SSE route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20578" y="9584735"/>
            <a:ext cx="1307117" cy="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2199" spc="-43">
                <a:solidFill>
                  <a:srgbClr val="1E1E1E"/>
                </a:solidFill>
                <a:latin typeface="Aileron"/>
                <a:ea typeface="Aileron"/>
                <a:cs typeface="Aileron"/>
                <a:sym typeface="Aileron"/>
              </a:rPr>
              <a:t>Live DB UI</a:t>
            </a:r>
          </a:p>
        </p:txBody>
      </p:sp>
      <p:sp>
        <p:nvSpPr>
          <p:cNvPr name="AutoShape 10" id="10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111991" y="1085850"/>
            <a:ext cx="949644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2599" i="true" spc="-51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Click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61635" y="1564410"/>
            <a:ext cx="2311734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2599" spc="-51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Start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59015" y="1954300"/>
            <a:ext cx="2046712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2599" i="true" spc="-51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Convex Run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31347" y="2485931"/>
            <a:ext cx="1248896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2599" spc="-51">
                <a:solidFill>
                  <a:srgbClr val="FF575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Update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997573" y="2574516"/>
            <a:ext cx="22283145" cy="250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9"/>
              </a:lnSpc>
            </a:pPr>
            <a:r>
              <a:rPr lang="en-US" b="true" sz="21999" spc="-2199">
                <a:solidFill>
                  <a:srgbClr val="B6B5B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Demo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1997573" y="6042480"/>
            <a:ext cx="22283145" cy="250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9"/>
              </a:lnSpc>
            </a:pPr>
            <a:r>
              <a:rPr lang="en-US" b="true" sz="21999" spc="-2199">
                <a:solidFill>
                  <a:srgbClr val="B6B5B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Demo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1997573" y="5116287"/>
            <a:ext cx="22283145" cy="250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9"/>
              </a:lnSpc>
            </a:pPr>
            <a:r>
              <a:rPr lang="en-US" b="true" sz="21999" spc="-2199">
                <a:solidFill>
                  <a:srgbClr val="83828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Demo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997573" y="3421773"/>
            <a:ext cx="22283145" cy="250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9"/>
              </a:lnSpc>
            </a:pPr>
            <a:r>
              <a:rPr lang="en-US" b="true" sz="21999" spc="-2199">
                <a:solidFill>
                  <a:srgbClr val="83828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Demo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997573" y="4269030"/>
            <a:ext cx="22283145" cy="250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99"/>
              </a:lnSpc>
            </a:pPr>
            <a:r>
              <a:rPr lang="en-US" b="true" sz="21999" spc="-2199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66800"/>
            <a:ext cx="1484444" cy="28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2100" spc="-126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ECON3086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90898" y="1094462"/>
            <a:ext cx="1768402" cy="2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22 April,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23227" y="1089676"/>
            <a:ext cx="4521286" cy="2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Python Programming for FinTech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8996" y="9055735"/>
            <a:ext cx="2663924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Ginni Vishal 22203133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42028" y="9055735"/>
            <a:ext cx="2490298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Fung Dao Wen 22230467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51434" y="9055735"/>
            <a:ext cx="2973781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SADIEV Sherzodbek 22200959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44322" y="9055746"/>
            <a:ext cx="2312539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Thit Htun LIN 23200073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75968" y="9055735"/>
            <a:ext cx="2983332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THANT-THAZIN-EAIN 22202110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46736" y="1026807"/>
            <a:ext cx="1594527" cy="28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 spc="-42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>
            <a:hlinkClick r:id="rId3" tooltip="https://github.com/Spagestic/aperture"/>
          </p:cNvPr>
          <p:cNvSpPr/>
          <p:nvPr/>
        </p:nvSpPr>
        <p:spPr>
          <a:xfrm flipH="false" flipV="false" rot="0">
            <a:off x="721579" y="1427281"/>
            <a:ext cx="16844841" cy="8990934"/>
          </a:xfrm>
          <a:custGeom>
            <a:avLst/>
            <a:gdLst/>
            <a:ahLst/>
            <a:cxnLst/>
            <a:rect r="r" b="b" t="t" l="l"/>
            <a:pathLst>
              <a:path h="8990934" w="16844841">
                <a:moveTo>
                  <a:pt x="0" y="0"/>
                </a:moveTo>
                <a:lnTo>
                  <a:pt x="16844842" y="0"/>
                </a:lnTo>
                <a:lnTo>
                  <a:pt x="16844842" y="8990934"/>
                </a:lnTo>
                <a:lnTo>
                  <a:pt x="0" y="8990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997573" y="2657039"/>
            <a:ext cx="22283145" cy="223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0"/>
              </a:lnSpc>
            </a:pPr>
            <a:r>
              <a:rPr lang="en-US" b="true" sz="19500" spc="-1950">
                <a:solidFill>
                  <a:srgbClr val="B6B5B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Libraries &amp; Tools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1997573" y="6125004"/>
            <a:ext cx="22283145" cy="223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0"/>
              </a:lnSpc>
            </a:pPr>
            <a:r>
              <a:rPr lang="en-US" b="true" sz="19500" spc="-1950">
                <a:solidFill>
                  <a:srgbClr val="B6B5B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Libraries &amp; Tools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1997573" y="5198810"/>
            <a:ext cx="22283145" cy="223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0"/>
              </a:lnSpc>
            </a:pPr>
            <a:r>
              <a:rPr lang="en-US" b="true" sz="19500" spc="-1950">
                <a:solidFill>
                  <a:srgbClr val="83828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Libraries &amp; Tools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997573" y="3504296"/>
            <a:ext cx="22283145" cy="223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0"/>
              </a:lnSpc>
            </a:pPr>
            <a:r>
              <a:rPr lang="en-US" b="true" sz="19500" spc="-1950">
                <a:solidFill>
                  <a:srgbClr val="83828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Libraries &amp; Tools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997573" y="4351553"/>
            <a:ext cx="22283145" cy="2238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0"/>
              </a:lnSpc>
            </a:pPr>
            <a:r>
              <a:rPr lang="en-US" b="true" sz="19500" spc="-1950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Libraries &amp; Tools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66800"/>
            <a:ext cx="1484444" cy="28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2100" spc="-126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ECON3086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90898" y="1094462"/>
            <a:ext cx="1768402" cy="2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22 April,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23227" y="1089676"/>
            <a:ext cx="4521286" cy="2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Python Programming for FinTech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8996" y="9055735"/>
            <a:ext cx="2663924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Ginni Vishal 22203133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42028" y="9055735"/>
            <a:ext cx="2490298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Fung Dao Wen 22230467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51434" y="9055735"/>
            <a:ext cx="2973781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SADIEV Sherzodbek 22200959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44322" y="9055746"/>
            <a:ext cx="2312539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Thit Htun LIN 23200073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75968" y="9055735"/>
            <a:ext cx="2983332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THANT-THAZIN-EAIN 22202110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46736" y="1026807"/>
            <a:ext cx="1594527" cy="28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 spc="-42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99414" y="1970497"/>
            <a:ext cx="4658938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999" spc="-59" u="sng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46049" y="1970497"/>
            <a:ext cx="4658938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999" spc="-59" u="sng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RUNTIME / DB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67896" y="824547"/>
            <a:ext cx="12120996" cy="62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5600" spc="-560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What Tech Stack Does </a:t>
            </a:r>
            <a:r>
              <a:rPr lang="en-US" b="true" sz="5600" spc="-560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Aperture </a:t>
            </a:r>
            <a:r>
              <a:rPr lang="en-US" b="true" sz="5600" spc="-560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Use?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04137" y="1970497"/>
            <a:ext cx="4658938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999" spc="-59" u="sng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/ AGENT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366229"/>
            <a:ext cx="4658938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999" spc="-59" u="sng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/ TOOLS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75336" y="5366229"/>
            <a:ext cx="4658938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999" spc="-59" u="sng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EXTERNAL INPUTS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33424" y="5366229"/>
            <a:ext cx="4658938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999" spc="-59" u="sng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EXECUTION PATTERNS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31434" y="2558393"/>
            <a:ext cx="4025249" cy="2188209"/>
            <a:chOff x="0" y="0"/>
            <a:chExt cx="5366999" cy="291761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57150"/>
              <a:ext cx="5245479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Next.js App Router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454909"/>
              <a:ext cx="4004204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streamdown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655656"/>
              <a:ext cx="5366999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shadcn / Tailwind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856403"/>
              <a:ext cx="5018303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TypeScript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46049" y="2547654"/>
            <a:ext cx="4025249" cy="2188209"/>
            <a:chOff x="0" y="0"/>
            <a:chExt cx="5366999" cy="2917613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57150"/>
              <a:ext cx="5245479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Convex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454909"/>
              <a:ext cx="4004204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reactive queries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655656"/>
              <a:ext cx="5366999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agent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856403"/>
              <a:ext cx="5018303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workflow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404137" y="2558393"/>
            <a:ext cx="4888271" cy="2188209"/>
            <a:chOff x="0" y="0"/>
            <a:chExt cx="6517695" cy="2917613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57150"/>
              <a:ext cx="6370121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AI SDK + Mistral</a:t>
              </a: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 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2454909"/>
              <a:ext cx="4862714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structured output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1655656"/>
              <a:ext cx="6517695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 Zod schemas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856403"/>
              <a:ext cx="6094238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generateObject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41078" y="5956778"/>
            <a:ext cx="4888271" cy="1588770"/>
            <a:chOff x="0" y="0"/>
            <a:chExt cx="6517695" cy="2118359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57150"/>
              <a:ext cx="6370121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Firecrawl</a:t>
              </a: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 search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655656"/>
              <a:ext cx="6517695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Convex actions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856403"/>
              <a:ext cx="6094238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Firecrawl scrape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75336" y="5956778"/>
            <a:ext cx="4888271" cy="1588770"/>
            <a:chOff x="0" y="0"/>
            <a:chExt cx="6517695" cy="2118359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57150"/>
              <a:ext cx="6370121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Polymarket</a:t>
              </a: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 Gamma API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1655656"/>
              <a:ext cx="6517695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page metadata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856403"/>
              <a:ext cx="6094238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event + markets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33424" y="5956778"/>
            <a:ext cx="4888271" cy="1588770"/>
            <a:chOff x="0" y="0"/>
            <a:chExt cx="6517695" cy="2118359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57150"/>
              <a:ext cx="6370121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Promise.all</a:t>
              </a: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 fan-out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1655656"/>
              <a:ext cx="6517695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 </a:t>
              </a: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sin</a:t>
              </a: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gle structured helper 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856403"/>
              <a:ext cx="6094238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per question parallelism 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543315" y="8287386"/>
            <a:ext cx="4658938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999" spc="-59" u="sng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RESEARCH_BUDGET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3167896" y="8877935"/>
            <a:ext cx="10858767" cy="389890"/>
            <a:chOff x="0" y="0"/>
            <a:chExt cx="14478356" cy="519853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0" y="57150"/>
              <a:ext cx="8630719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governs</a:t>
              </a: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 iteration caps / scrape caps 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9068663" y="57150"/>
              <a:ext cx="5409693" cy="4627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9"/>
                </a:lnSpc>
              </a:pPr>
              <a:r>
                <a:rPr lang="en-US" b="true" sz="2599" i="true" spc="-51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bounded cost &amp; latency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2552" y="1971318"/>
            <a:ext cx="5375539" cy="3509653"/>
            <a:chOff x="0" y="0"/>
            <a:chExt cx="7167385" cy="467953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6675"/>
              <a:ext cx="7167385" cy="622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61"/>
                </a:lnSpc>
              </a:pPr>
              <a:r>
                <a:rPr lang="en-US" b="true" sz="3461" spc="-69" u="sng">
                  <a:solidFill>
                    <a:srgbClr val="1E1E1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FRONTEND 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58607" y="1379835"/>
              <a:ext cx="6052297" cy="5331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b="true" sz="2999" i="true" spc="-59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Next.js App Router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58607" y="4146399"/>
              <a:ext cx="4620099" cy="5331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b="true" sz="2999" i="true" spc="-59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streamdown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58607" y="3224211"/>
              <a:ext cx="6192509" cy="5331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b="true" sz="2999" i="true" spc="-59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shadcn / Tailwind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58607" y="2302023"/>
              <a:ext cx="5790179" cy="5331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b="true" sz="2999" i="true" spc="-59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TypeScript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24561" y="7265670"/>
            <a:ext cx="5979540" cy="8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3220" spc="-6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For streamed markdown,</a:t>
            </a:r>
          </a:p>
          <a:p>
            <a:pPr algn="l">
              <a:lnSpc>
                <a:spcPts val="3220"/>
              </a:lnSpc>
            </a:pPr>
            <a:r>
              <a:rPr lang="en-US" sz="3220" spc="-6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from general to specific</a:t>
            </a:r>
          </a:p>
        </p:txBody>
      </p:sp>
      <p:sp>
        <p:nvSpPr>
          <p:cNvPr name="AutoShape 9" id="9"/>
          <p:cNvSpPr/>
          <p:nvPr/>
        </p:nvSpPr>
        <p:spPr>
          <a:xfrm>
            <a:off x="2856668" y="5711053"/>
            <a:ext cx="19173" cy="1487942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triangle" len="med" w="lg"/>
            <a:tailEnd type="triangle" len="med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766269" y="2719435"/>
            <a:ext cx="4219143" cy="2882222"/>
            <a:chOff x="0" y="0"/>
            <a:chExt cx="1104099" cy="7542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4099" cy="754243"/>
            </a:xfrm>
            <a:custGeom>
              <a:avLst/>
              <a:gdLst/>
              <a:ahLst/>
              <a:cxnLst/>
              <a:rect r="r" b="b" t="t" l="l"/>
              <a:pathLst>
                <a:path h="754243" w="1104099">
                  <a:moveTo>
                    <a:pt x="31194" y="0"/>
                  </a:moveTo>
                  <a:lnTo>
                    <a:pt x="1072905" y="0"/>
                  </a:lnTo>
                  <a:cubicBezTo>
                    <a:pt x="1090133" y="0"/>
                    <a:pt x="1104099" y="13966"/>
                    <a:pt x="1104099" y="31194"/>
                  </a:cubicBezTo>
                  <a:lnTo>
                    <a:pt x="1104099" y="723049"/>
                  </a:lnTo>
                  <a:cubicBezTo>
                    <a:pt x="1104099" y="731322"/>
                    <a:pt x="1100813" y="739256"/>
                    <a:pt x="1094963" y="745106"/>
                  </a:cubicBezTo>
                  <a:cubicBezTo>
                    <a:pt x="1089113" y="750956"/>
                    <a:pt x="1081178" y="754243"/>
                    <a:pt x="1072905" y="754243"/>
                  </a:cubicBezTo>
                  <a:lnTo>
                    <a:pt x="31194" y="754243"/>
                  </a:lnTo>
                  <a:cubicBezTo>
                    <a:pt x="22921" y="754243"/>
                    <a:pt x="14987" y="750956"/>
                    <a:pt x="9137" y="745106"/>
                  </a:cubicBezTo>
                  <a:cubicBezTo>
                    <a:pt x="3287" y="739256"/>
                    <a:pt x="0" y="731322"/>
                    <a:pt x="0" y="723049"/>
                  </a:cubicBezTo>
                  <a:lnTo>
                    <a:pt x="0" y="31194"/>
                  </a:lnTo>
                  <a:cubicBezTo>
                    <a:pt x="0" y="22921"/>
                    <a:pt x="3287" y="14987"/>
                    <a:pt x="9137" y="9137"/>
                  </a:cubicBezTo>
                  <a:cubicBezTo>
                    <a:pt x="14987" y="3287"/>
                    <a:pt x="22921" y="0"/>
                    <a:pt x="31194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104099" cy="763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441523" y="1353041"/>
            <a:ext cx="11177613" cy="10590789"/>
          </a:xfrm>
          <a:custGeom>
            <a:avLst/>
            <a:gdLst/>
            <a:ahLst/>
            <a:cxnLst/>
            <a:rect r="r" b="b" t="t" l="l"/>
            <a:pathLst>
              <a:path h="10590789" w="11177613">
                <a:moveTo>
                  <a:pt x="0" y="0"/>
                </a:moveTo>
                <a:lnTo>
                  <a:pt x="11177613" y="0"/>
                </a:lnTo>
                <a:lnTo>
                  <a:pt x="11177613" y="10590788"/>
                </a:lnTo>
                <a:lnTo>
                  <a:pt x="0" y="10590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45720"/>
            <a:ext cx="18207436" cy="10332720"/>
          </a:xfrm>
          <a:custGeom>
            <a:avLst/>
            <a:gdLst/>
            <a:ahLst/>
            <a:cxnLst/>
            <a:rect r="r" b="b" t="t" l="l"/>
            <a:pathLst>
              <a:path h="10332720" w="18207436">
                <a:moveTo>
                  <a:pt x="0" y="0"/>
                </a:moveTo>
                <a:lnTo>
                  <a:pt x="18207436" y="0"/>
                </a:lnTo>
                <a:lnTo>
                  <a:pt x="18207436" y="10332720"/>
                </a:lnTo>
                <a:lnTo>
                  <a:pt x="0" y="1033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1797" y="3570574"/>
            <a:ext cx="3114776" cy="27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2058" i="true" spc="-41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Convex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1797" y="4597370"/>
            <a:ext cx="3186935" cy="27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2058" i="true" spc="-41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agent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1797" y="4045172"/>
            <a:ext cx="2979878" cy="27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2058" i="true" spc="-41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workflow</a:t>
            </a:r>
          </a:p>
        </p:txBody>
      </p:sp>
      <p:sp>
        <p:nvSpPr>
          <p:cNvPr name="AutoShape 5" id="5"/>
          <p:cNvSpPr/>
          <p:nvPr/>
        </p:nvSpPr>
        <p:spPr>
          <a:xfrm>
            <a:off x="2139491" y="3710461"/>
            <a:ext cx="777270" cy="65095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triangle" len="med" w="lg"/>
            <a:tailEnd type="triangle" len="med" w="lg"/>
          </a:ln>
        </p:spPr>
      </p:sp>
      <p:sp>
        <p:nvSpPr>
          <p:cNvPr name="AutoShape 6" id="6"/>
          <p:cNvSpPr/>
          <p:nvPr/>
        </p:nvSpPr>
        <p:spPr>
          <a:xfrm flipV="true">
            <a:off x="2310772" y="3954140"/>
            <a:ext cx="671596" cy="289976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triangle" len="med" w="lg"/>
            <a:tailEnd type="triangle" len="med" w="lg"/>
          </a:ln>
        </p:spPr>
      </p:sp>
      <p:sp>
        <p:nvSpPr>
          <p:cNvPr name="AutoShape 7" id="7"/>
          <p:cNvSpPr/>
          <p:nvPr/>
        </p:nvSpPr>
        <p:spPr>
          <a:xfrm>
            <a:off x="1991225" y="4753647"/>
            <a:ext cx="827124" cy="0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triangle" len="med" w="lg"/>
            <a:tailEnd type="triangle" len="med" w="lg"/>
          </a:ln>
        </p:spPr>
      </p:sp>
      <p:sp>
        <p:nvSpPr>
          <p:cNvPr name="TextBox 8" id="8"/>
          <p:cNvSpPr txBox="true"/>
          <p:nvPr/>
        </p:nvSpPr>
        <p:spPr>
          <a:xfrm rot="0">
            <a:off x="851797" y="6407319"/>
            <a:ext cx="5581014" cy="29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sz="2201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For replacing any streaming endpoint</a:t>
            </a:r>
          </a:p>
        </p:txBody>
      </p:sp>
      <p:sp>
        <p:nvSpPr>
          <p:cNvPr name="AutoShape 9" id="9"/>
          <p:cNvSpPr/>
          <p:nvPr/>
        </p:nvSpPr>
        <p:spPr>
          <a:xfrm>
            <a:off x="1965498" y="5627923"/>
            <a:ext cx="75152" cy="741296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triangle" len="med" w="lg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7397555" y="1176998"/>
            <a:ext cx="10367206" cy="8081302"/>
          </a:xfrm>
          <a:custGeom>
            <a:avLst/>
            <a:gdLst/>
            <a:ahLst/>
            <a:cxnLst/>
            <a:rect r="r" b="b" t="t" l="l"/>
            <a:pathLst>
              <a:path h="8081302" w="10367206">
                <a:moveTo>
                  <a:pt x="0" y="0"/>
                </a:moveTo>
                <a:lnTo>
                  <a:pt x="10367205" y="0"/>
                </a:lnTo>
                <a:lnTo>
                  <a:pt x="10367205" y="8081302"/>
                </a:lnTo>
                <a:lnTo>
                  <a:pt x="0" y="8081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85" t="0" r="-1475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51797" y="2860666"/>
            <a:ext cx="3453877" cy="424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3200" spc="-64" u="sng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RUNTIME / DB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1797" y="5200835"/>
            <a:ext cx="2377704" cy="27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8"/>
              </a:lnSpc>
            </a:pPr>
            <a:r>
              <a:rPr lang="en-US" b="true" sz="2058" i="true" spc="-41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reactive queries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29556" y="3761053"/>
            <a:ext cx="4087610" cy="29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sz="2201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For durable steps with retries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50724" y="4626169"/>
            <a:ext cx="4087610" cy="293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1"/>
              </a:lnSpc>
            </a:pPr>
            <a:r>
              <a:rPr lang="en-US" sz="2201" spc="-4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For persisted LLM threads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3421" y="3000959"/>
            <a:ext cx="8173826" cy="5956676"/>
          </a:xfrm>
          <a:custGeom>
            <a:avLst/>
            <a:gdLst/>
            <a:ahLst/>
            <a:cxnLst/>
            <a:rect r="r" b="b" t="t" l="l"/>
            <a:pathLst>
              <a:path h="5956676" w="8173826">
                <a:moveTo>
                  <a:pt x="0" y="0"/>
                </a:moveTo>
                <a:lnTo>
                  <a:pt x="8173827" y="0"/>
                </a:lnTo>
                <a:lnTo>
                  <a:pt x="8173827" y="5956676"/>
                </a:lnTo>
                <a:lnTo>
                  <a:pt x="0" y="59566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74691" y="6881139"/>
            <a:ext cx="7359481" cy="2037260"/>
          </a:xfrm>
          <a:custGeom>
            <a:avLst/>
            <a:gdLst/>
            <a:ahLst/>
            <a:cxnLst/>
            <a:rect r="r" b="b" t="t" l="l"/>
            <a:pathLst>
              <a:path h="2037260" w="7359481">
                <a:moveTo>
                  <a:pt x="0" y="0"/>
                </a:moveTo>
                <a:lnTo>
                  <a:pt x="7359481" y="0"/>
                </a:lnTo>
                <a:lnTo>
                  <a:pt x="7359481" y="2037260"/>
                </a:lnTo>
                <a:lnTo>
                  <a:pt x="0" y="2037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3421" y="1329365"/>
            <a:ext cx="8173826" cy="1563244"/>
          </a:xfrm>
          <a:custGeom>
            <a:avLst/>
            <a:gdLst/>
            <a:ahLst/>
            <a:cxnLst/>
            <a:rect r="r" b="b" t="t" l="l"/>
            <a:pathLst>
              <a:path h="1563244" w="8173826">
                <a:moveTo>
                  <a:pt x="0" y="0"/>
                </a:moveTo>
                <a:lnTo>
                  <a:pt x="8173827" y="0"/>
                </a:lnTo>
                <a:lnTo>
                  <a:pt x="8173827" y="1563244"/>
                </a:lnTo>
                <a:lnTo>
                  <a:pt x="0" y="15632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40123" y="7704925"/>
            <a:ext cx="1218311" cy="755353"/>
          </a:xfrm>
          <a:custGeom>
            <a:avLst/>
            <a:gdLst/>
            <a:ahLst/>
            <a:cxnLst/>
            <a:rect r="r" b="b" t="t" l="l"/>
            <a:pathLst>
              <a:path h="755353" w="1218311">
                <a:moveTo>
                  <a:pt x="0" y="0"/>
                </a:moveTo>
                <a:lnTo>
                  <a:pt x="1218311" y="0"/>
                </a:lnTo>
                <a:lnTo>
                  <a:pt x="1218311" y="755353"/>
                </a:lnTo>
                <a:lnTo>
                  <a:pt x="0" y="7553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006420">
            <a:off x="3534261" y="7752465"/>
            <a:ext cx="423243" cy="1128647"/>
          </a:xfrm>
          <a:custGeom>
            <a:avLst/>
            <a:gdLst/>
            <a:ahLst/>
            <a:cxnLst/>
            <a:rect r="r" b="b" t="t" l="l"/>
            <a:pathLst>
              <a:path h="1128647" w="423243">
                <a:moveTo>
                  <a:pt x="0" y="0"/>
                </a:moveTo>
                <a:lnTo>
                  <a:pt x="423242" y="0"/>
                </a:lnTo>
                <a:lnTo>
                  <a:pt x="423242" y="1128646"/>
                </a:lnTo>
                <a:lnTo>
                  <a:pt x="0" y="11286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398409">
            <a:off x="3533546" y="1911466"/>
            <a:ext cx="423243" cy="1128647"/>
          </a:xfrm>
          <a:custGeom>
            <a:avLst/>
            <a:gdLst/>
            <a:ahLst/>
            <a:cxnLst/>
            <a:rect r="r" b="b" t="t" l="l"/>
            <a:pathLst>
              <a:path h="1128647" w="423243">
                <a:moveTo>
                  <a:pt x="0" y="0"/>
                </a:moveTo>
                <a:lnTo>
                  <a:pt x="423243" y="0"/>
                </a:lnTo>
                <a:lnTo>
                  <a:pt x="423243" y="1128647"/>
                </a:lnTo>
                <a:lnTo>
                  <a:pt x="0" y="11286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158434" y="1921358"/>
            <a:ext cx="3795997" cy="2659330"/>
            <a:chOff x="0" y="0"/>
            <a:chExt cx="999769" cy="700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9769" cy="700400"/>
            </a:xfrm>
            <a:custGeom>
              <a:avLst/>
              <a:gdLst/>
              <a:ahLst/>
              <a:cxnLst/>
              <a:rect r="r" b="b" t="t" l="l"/>
              <a:pathLst>
                <a:path h="700400" w="999769">
                  <a:moveTo>
                    <a:pt x="34671" y="0"/>
                  </a:moveTo>
                  <a:lnTo>
                    <a:pt x="965097" y="0"/>
                  </a:lnTo>
                  <a:cubicBezTo>
                    <a:pt x="974293" y="0"/>
                    <a:pt x="983112" y="3653"/>
                    <a:pt x="989614" y="10155"/>
                  </a:cubicBezTo>
                  <a:cubicBezTo>
                    <a:pt x="996116" y="16657"/>
                    <a:pt x="999769" y="25476"/>
                    <a:pt x="999769" y="34671"/>
                  </a:cubicBezTo>
                  <a:lnTo>
                    <a:pt x="999769" y="665728"/>
                  </a:lnTo>
                  <a:cubicBezTo>
                    <a:pt x="999769" y="674924"/>
                    <a:pt x="996116" y="683743"/>
                    <a:pt x="989614" y="690245"/>
                  </a:cubicBezTo>
                  <a:cubicBezTo>
                    <a:pt x="983112" y="696747"/>
                    <a:pt x="974293" y="700400"/>
                    <a:pt x="965097" y="700400"/>
                  </a:cubicBezTo>
                  <a:lnTo>
                    <a:pt x="34671" y="700400"/>
                  </a:lnTo>
                  <a:cubicBezTo>
                    <a:pt x="25476" y="700400"/>
                    <a:pt x="16657" y="696747"/>
                    <a:pt x="10155" y="690245"/>
                  </a:cubicBezTo>
                  <a:cubicBezTo>
                    <a:pt x="3653" y="683743"/>
                    <a:pt x="0" y="674924"/>
                    <a:pt x="0" y="665728"/>
                  </a:cubicBezTo>
                  <a:lnTo>
                    <a:pt x="0" y="34671"/>
                  </a:lnTo>
                  <a:cubicBezTo>
                    <a:pt x="0" y="25476"/>
                    <a:pt x="3653" y="16657"/>
                    <a:pt x="10155" y="10155"/>
                  </a:cubicBezTo>
                  <a:cubicBezTo>
                    <a:pt x="16657" y="3653"/>
                    <a:pt x="25476" y="0"/>
                    <a:pt x="34671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999769" cy="70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H="true">
            <a:off x="12056433" y="4580689"/>
            <a:ext cx="0" cy="434453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triangle" len="med" w="lg"/>
            <a:tailEnd type="triangle" len="med" w="lg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623421" y="333677"/>
            <a:ext cx="3122461" cy="908866"/>
          </a:xfrm>
          <a:custGeom>
            <a:avLst/>
            <a:gdLst/>
            <a:ahLst/>
            <a:cxnLst/>
            <a:rect r="r" b="b" t="t" l="l"/>
            <a:pathLst>
              <a:path h="908866" w="3122461">
                <a:moveTo>
                  <a:pt x="0" y="0"/>
                </a:moveTo>
                <a:lnTo>
                  <a:pt x="3122461" y="0"/>
                </a:lnTo>
                <a:lnTo>
                  <a:pt x="3122461" y="908867"/>
                </a:lnTo>
                <a:lnTo>
                  <a:pt x="0" y="9088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158434" y="1280729"/>
            <a:ext cx="3795997" cy="459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b="true" sz="3586" spc="-71" u="sng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/ AGENT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74691" y="5062767"/>
            <a:ext cx="4263253" cy="1537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spc="-48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Zod‑typed structured output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400" spc="-48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lassify 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J</a:t>
            </a:r>
            <a:r>
              <a:rPr lang="en-US" sz="2400" spc="-48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udge 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400" spc="-48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ummarize </a:t>
            </a:r>
          </a:p>
          <a:p>
            <a:pPr algn="l" marL="518160" indent="-259080" lvl="1">
              <a:lnSpc>
                <a:spcPts val="2400"/>
              </a:lnSpc>
              <a:buFont typeface="Arial"/>
              <a:buChar char="•"/>
            </a:pPr>
            <a:r>
              <a:rPr lang="en-US" sz="2400" spc="-48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400" spc="-48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ick markets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585875" y="2143685"/>
            <a:ext cx="2941114" cy="2214678"/>
            <a:chOff x="0" y="0"/>
            <a:chExt cx="3921486" cy="295290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57150"/>
              <a:ext cx="3921486" cy="43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b="true" sz="2399" i="true" spc="-47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AI SDK + Mistral</a:t>
              </a:r>
              <a:r>
                <a:rPr lang="en-US" b="true" sz="2399" i="true" spc="-47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2512854"/>
              <a:ext cx="3921486" cy="44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b="true" sz="2400" i="true" spc="-48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structured output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700636"/>
              <a:ext cx="3832123" cy="430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b="true" sz="2399" i="true" spc="-47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 Zod schemas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869368"/>
              <a:ext cx="3921486" cy="440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b="true" sz="2400" i="true" spc="-48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generateObject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11862" y="2513206"/>
            <a:ext cx="11901230" cy="7973824"/>
          </a:xfrm>
          <a:custGeom>
            <a:avLst/>
            <a:gdLst/>
            <a:ahLst/>
            <a:cxnLst/>
            <a:rect r="r" b="b" t="t" l="l"/>
            <a:pathLst>
              <a:path h="7973824" w="11901230">
                <a:moveTo>
                  <a:pt x="0" y="0"/>
                </a:moveTo>
                <a:lnTo>
                  <a:pt x="11901229" y="0"/>
                </a:lnTo>
                <a:lnTo>
                  <a:pt x="11901229" y="7973823"/>
                </a:lnTo>
                <a:lnTo>
                  <a:pt x="0" y="7973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703671" y="2579881"/>
            <a:ext cx="4542219" cy="414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9"/>
              </a:lnSpc>
            </a:pPr>
            <a:r>
              <a:rPr lang="en-US" b="true" sz="3199" spc="-63" u="sng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/ TOOLS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1278" y="3255160"/>
            <a:ext cx="4765807" cy="1548967"/>
            <a:chOff x="0" y="0"/>
            <a:chExt cx="6354409" cy="206528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625"/>
              <a:ext cx="6210532" cy="4592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4"/>
                </a:lnSpc>
              </a:pPr>
              <a:r>
                <a:rPr lang="en-US" b="true" sz="2534" i="true" spc="-50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Firecrawl</a:t>
              </a:r>
              <a:r>
                <a:rPr lang="en-US" b="true" sz="2534" i="true" spc="-50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 search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606085"/>
              <a:ext cx="6354409" cy="4592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4"/>
                </a:lnSpc>
              </a:pPr>
              <a:r>
                <a:rPr lang="en-US" b="true" sz="2534" i="true" spc="-50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Convex actions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26855"/>
              <a:ext cx="5941561" cy="4592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4"/>
                </a:lnSpc>
              </a:pPr>
              <a:r>
                <a:rPr lang="en-US" b="true" sz="2534" i="true" spc="-50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Firecrawl scrape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03671" y="3052372"/>
            <a:ext cx="3172621" cy="1905868"/>
            <a:chOff x="0" y="0"/>
            <a:chExt cx="1021445" cy="613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1445" cy="613606"/>
            </a:xfrm>
            <a:custGeom>
              <a:avLst/>
              <a:gdLst/>
              <a:ahLst/>
              <a:cxnLst/>
              <a:rect r="r" b="b" t="t" l="l"/>
              <a:pathLst>
                <a:path h="613606" w="1021445">
                  <a:moveTo>
                    <a:pt x="41484" y="0"/>
                  </a:moveTo>
                  <a:lnTo>
                    <a:pt x="979962" y="0"/>
                  </a:lnTo>
                  <a:cubicBezTo>
                    <a:pt x="990964" y="0"/>
                    <a:pt x="1001515" y="4371"/>
                    <a:pt x="1009295" y="12150"/>
                  </a:cubicBezTo>
                  <a:cubicBezTo>
                    <a:pt x="1017075" y="19930"/>
                    <a:pt x="1021445" y="30482"/>
                    <a:pt x="1021445" y="41484"/>
                  </a:cubicBezTo>
                  <a:lnTo>
                    <a:pt x="1021445" y="572122"/>
                  </a:lnTo>
                  <a:cubicBezTo>
                    <a:pt x="1021445" y="583125"/>
                    <a:pt x="1017075" y="593676"/>
                    <a:pt x="1009295" y="601456"/>
                  </a:cubicBezTo>
                  <a:cubicBezTo>
                    <a:pt x="1001515" y="609236"/>
                    <a:pt x="990964" y="613606"/>
                    <a:pt x="979962" y="613606"/>
                  </a:cubicBezTo>
                  <a:lnTo>
                    <a:pt x="41484" y="613606"/>
                  </a:lnTo>
                  <a:cubicBezTo>
                    <a:pt x="30482" y="613606"/>
                    <a:pt x="19930" y="609236"/>
                    <a:pt x="12150" y="601456"/>
                  </a:cubicBezTo>
                  <a:cubicBezTo>
                    <a:pt x="4371" y="593676"/>
                    <a:pt x="0" y="583125"/>
                    <a:pt x="0" y="572122"/>
                  </a:cubicBezTo>
                  <a:lnTo>
                    <a:pt x="0" y="41484"/>
                  </a:lnTo>
                  <a:cubicBezTo>
                    <a:pt x="0" y="30482"/>
                    <a:pt x="4371" y="19930"/>
                    <a:pt x="12150" y="12150"/>
                  </a:cubicBezTo>
                  <a:cubicBezTo>
                    <a:pt x="19930" y="4371"/>
                    <a:pt x="30482" y="0"/>
                    <a:pt x="41484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21445" cy="623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03671" y="6118920"/>
            <a:ext cx="4811059" cy="130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8"/>
              </a:lnSpc>
            </a:pPr>
            <a:r>
              <a:rPr lang="en-US" sz="2568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Leaf tools wrapped </a:t>
            </a:r>
            <a:r>
              <a:rPr lang="en-US" sz="2568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as Convex actions:</a:t>
            </a:r>
          </a:p>
          <a:p>
            <a:pPr algn="l" marL="554573" indent="-277287" lvl="1">
              <a:lnSpc>
                <a:spcPts val="2568"/>
              </a:lnSpc>
              <a:buFont typeface="Arial"/>
              <a:buChar char="•"/>
            </a:pPr>
            <a:r>
              <a:rPr lang="en-US" b="true" sz="2568" i="true" spc="-51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search </a:t>
            </a:r>
            <a:r>
              <a:rPr lang="en-US" sz="2568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for discovery</a:t>
            </a:r>
          </a:p>
          <a:p>
            <a:pPr algn="l" marL="554573" indent="-277287" lvl="1">
              <a:lnSpc>
                <a:spcPts val="2568"/>
              </a:lnSpc>
              <a:buFont typeface="Arial"/>
              <a:buChar char="•"/>
            </a:pPr>
            <a:r>
              <a:rPr lang="en-US" b="true" sz="2568" i="true" spc="-51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scrape </a:t>
            </a:r>
            <a:r>
              <a:rPr lang="en-US" sz="2568" spc="-5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for page content</a:t>
            </a:r>
          </a:p>
        </p:txBody>
      </p:sp>
      <p:sp>
        <p:nvSpPr>
          <p:cNvPr name="AutoShape 12" id="12"/>
          <p:cNvSpPr/>
          <p:nvPr/>
        </p:nvSpPr>
        <p:spPr>
          <a:xfrm>
            <a:off x="2262291" y="4958296"/>
            <a:ext cx="11354" cy="1112999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triangle" len="med" w="lg"/>
            <a:tailEnd type="triangle" len="med" w="lg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00555" y="1326192"/>
            <a:ext cx="12800953" cy="62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5600" spc="-560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Practical Uses of These Libraries &amp;Tools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18168" y="6628061"/>
            <a:ext cx="5430325" cy="243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993" indent="-297997" lvl="1">
              <a:lnSpc>
                <a:spcPts val="2760"/>
              </a:lnSpc>
              <a:buFont typeface="Arial"/>
              <a:buChar char="•"/>
            </a:pPr>
            <a:r>
              <a:rPr lang="en-US" sz="2760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For </a:t>
            </a:r>
            <a:r>
              <a:rPr lang="en-US" b="true" sz="2760" i="true" spc="-55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fan‑out </a:t>
            </a:r>
            <a:r>
              <a:rPr lang="en-US" sz="2760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over questions</a:t>
            </a:r>
            <a:r>
              <a:rPr lang="en-US" sz="2760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60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an</a:t>
            </a:r>
            <a:r>
              <a:rPr lang="en-US" sz="2760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d over </a:t>
            </a:r>
            <a:r>
              <a:rPr lang="en-US" sz="2760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scrape</a:t>
            </a:r>
            <a:r>
              <a:rPr lang="en-US" sz="2760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/summ</a:t>
            </a:r>
            <a:r>
              <a:rPr lang="en-US" sz="2760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arize </a:t>
            </a:r>
            <a:r>
              <a:rPr lang="en-US" b="true" sz="2760" i="true" spc="-55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per question</a:t>
            </a:r>
          </a:p>
          <a:p>
            <a:pPr algn="l">
              <a:lnSpc>
                <a:spcPts val="2760"/>
              </a:lnSpc>
            </a:pPr>
          </a:p>
          <a:p>
            <a:pPr algn="l" marL="595993" indent="-297997" lvl="1">
              <a:lnSpc>
                <a:spcPts val="2760"/>
              </a:lnSpc>
              <a:buFont typeface="Arial"/>
              <a:buChar char="•"/>
            </a:pPr>
            <a:r>
              <a:rPr lang="en-US" sz="2760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Every LLM call goes through a </a:t>
            </a:r>
            <a:r>
              <a:rPr lang="en-US" b="true" sz="2760" i="true" spc="-55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single structured helper</a:t>
            </a:r>
            <a:r>
              <a:rPr lang="en-US" sz="2760" spc="-5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with a Zod schema.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7990225" y="5691918"/>
            <a:ext cx="712728" cy="888518"/>
          </a:xfrm>
          <a:prstGeom prst="line">
            <a:avLst/>
          </a:prstGeom>
          <a:ln cap="flat" w="28575">
            <a:solidFill>
              <a:srgbClr val="000000"/>
            </a:solidFill>
            <a:prstDash val="sysDot"/>
            <a:headEnd type="triangle" len="med" w="lg"/>
            <a:tailEnd type="triangle" len="med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3174089"/>
            <a:ext cx="4778743" cy="402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b="true" sz="3077" spc="-61" u="sng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EXTERNAL INPUTS</a:t>
            </a:r>
          </a:p>
        </p:txBody>
      </p:sp>
      <p:sp>
        <p:nvSpPr>
          <p:cNvPr name="AutoShape 6" id="6"/>
          <p:cNvSpPr/>
          <p:nvPr/>
        </p:nvSpPr>
        <p:spPr>
          <a:xfrm>
            <a:off x="3258531" y="5691918"/>
            <a:ext cx="12149" cy="1190948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triangle" len="med" w="lg"/>
            <a:tailEnd type="triangle" len="med" w="lg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6930490"/>
            <a:ext cx="5148001" cy="70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2748" spc="-5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For </a:t>
            </a:r>
            <a:r>
              <a:rPr lang="en-US" b="true" sz="2748" i="true" spc="-54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event + markets metadat</a:t>
            </a:r>
            <a:r>
              <a:rPr lang="en-US" b="true" sz="2748" i="true" spc="-54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</a:t>
            </a:r>
            <a:r>
              <a:rPr lang="en-US" sz="2748" spc="-5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48" spc="-5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on th</a:t>
            </a:r>
            <a:r>
              <a:rPr lang="en-US" sz="2748" spc="-5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e </a:t>
            </a:r>
            <a:r>
              <a:rPr lang="en-US" b="true" sz="2748" i="true" spc="-54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52344" y="3183614"/>
            <a:ext cx="5196149" cy="432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5"/>
              </a:lnSpc>
            </a:pPr>
            <a:r>
              <a:rPr lang="en-US" b="true" sz="3345" spc="-66" u="sng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EXECUTION PATTERNS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97272" y="3155404"/>
            <a:ext cx="4973193" cy="42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b="true" sz="3202" spc="-64" u="sng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RESEARCH_BUDGET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86107" y="3907096"/>
            <a:ext cx="4973193" cy="1133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4"/>
              </a:lnSpc>
            </a:pPr>
            <a:r>
              <a:rPr lang="en-US" sz="2984" i="true" spc="-59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Constant </a:t>
            </a:r>
            <a:r>
              <a:rPr lang="en-US" b="true" sz="2984" i="true" spc="-59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governs</a:t>
            </a:r>
            <a:r>
              <a:rPr lang="en-US" b="true" sz="2984" i="true" spc="-59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iteration caps / scrape caps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60129" y="5523154"/>
            <a:ext cx="4515232" cy="80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3093" i="true" spc="-61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Bounded </a:t>
            </a:r>
            <a:r>
              <a:rPr lang="en-US" b="true" sz="3093" i="true" spc="-61">
                <a:solidFill>
                  <a:srgbClr val="FF5757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cost &amp; latency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49172" y="3829229"/>
            <a:ext cx="5101888" cy="1658199"/>
            <a:chOff x="0" y="0"/>
            <a:chExt cx="6802517" cy="2210932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47625"/>
              <a:ext cx="6648494" cy="494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3"/>
                </a:lnSpc>
              </a:pPr>
              <a:r>
                <a:rPr lang="en-US" b="true" sz="2713" i="true" spc="-54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Polymarket</a:t>
              </a:r>
              <a:r>
                <a:rPr lang="en-US" b="true" sz="2713" i="true" spc="-54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 Gamma API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715986"/>
              <a:ext cx="6802517" cy="494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3"/>
                </a:lnSpc>
              </a:pPr>
              <a:r>
                <a:rPr lang="en-US" b="true" sz="2713" i="true" spc="-54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page metadata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881805"/>
              <a:ext cx="6360555" cy="494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3"/>
                </a:lnSpc>
              </a:pPr>
              <a:r>
                <a:rPr lang="en-US" b="true" sz="2713" i="true" spc="-54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event + markets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58352" y="3807805"/>
            <a:ext cx="5101888" cy="1658199"/>
            <a:chOff x="0" y="0"/>
            <a:chExt cx="6802517" cy="2210932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47625"/>
              <a:ext cx="6648494" cy="494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3"/>
                </a:lnSpc>
              </a:pPr>
              <a:r>
                <a:rPr lang="en-US" b="true" sz="2713" i="true" spc="-54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Promise.all</a:t>
              </a:r>
              <a:r>
                <a:rPr lang="en-US" b="true" sz="2713" i="true" spc="-54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 fan-out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715986"/>
              <a:ext cx="6802517" cy="494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3"/>
                </a:lnSpc>
              </a:pPr>
              <a:r>
                <a:rPr lang="en-US" b="true" sz="2713" i="true" spc="-54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 </a:t>
              </a:r>
              <a:r>
                <a:rPr lang="en-US" b="true" sz="2713" i="true" spc="-54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sin</a:t>
              </a:r>
              <a:r>
                <a:rPr lang="en-US" b="true" sz="2713" i="true" spc="-54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gle structured helper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881805"/>
              <a:ext cx="6360555" cy="494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3"/>
                </a:lnSpc>
              </a:pPr>
              <a:r>
                <a:rPr lang="en-US" b="true" sz="2713" i="true" spc="-54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per question parallelism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3616233"/>
            <a:ext cx="4703785" cy="2056440"/>
            <a:chOff x="0" y="0"/>
            <a:chExt cx="1238857" cy="54161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38857" cy="541614"/>
            </a:xfrm>
            <a:custGeom>
              <a:avLst/>
              <a:gdLst/>
              <a:ahLst/>
              <a:cxnLst/>
              <a:rect r="r" b="b" t="t" l="l"/>
              <a:pathLst>
                <a:path h="541614" w="1238857">
                  <a:moveTo>
                    <a:pt x="27980" y="0"/>
                  </a:moveTo>
                  <a:lnTo>
                    <a:pt x="1210877" y="0"/>
                  </a:lnTo>
                  <a:cubicBezTo>
                    <a:pt x="1218298" y="0"/>
                    <a:pt x="1225415" y="2948"/>
                    <a:pt x="1230662" y="8195"/>
                  </a:cubicBezTo>
                  <a:cubicBezTo>
                    <a:pt x="1235909" y="13442"/>
                    <a:pt x="1238857" y="20559"/>
                    <a:pt x="1238857" y="27980"/>
                  </a:cubicBezTo>
                  <a:lnTo>
                    <a:pt x="1238857" y="513634"/>
                  </a:lnTo>
                  <a:cubicBezTo>
                    <a:pt x="1238857" y="521054"/>
                    <a:pt x="1235909" y="528171"/>
                    <a:pt x="1230662" y="533419"/>
                  </a:cubicBezTo>
                  <a:cubicBezTo>
                    <a:pt x="1225415" y="538666"/>
                    <a:pt x="1218298" y="541614"/>
                    <a:pt x="1210877" y="541614"/>
                  </a:cubicBezTo>
                  <a:lnTo>
                    <a:pt x="27980" y="541614"/>
                  </a:lnTo>
                  <a:cubicBezTo>
                    <a:pt x="20559" y="541614"/>
                    <a:pt x="13442" y="538666"/>
                    <a:pt x="8195" y="533419"/>
                  </a:cubicBezTo>
                  <a:cubicBezTo>
                    <a:pt x="2948" y="528171"/>
                    <a:pt x="0" y="521054"/>
                    <a:pt x="0" y="513634"/>
                  </a:cubicBezTo>
                  <a:lnTo>
                    <a:pt x="0" y="27980"/>
                  </a:lnTo>
                  <a:cubicBezTo>
                    <a:pt x="0" y="20559"/>
                    <a:pt x="2948" y="13442"/>
                    <a:pt x="8195" y="8195"/>
                  </a:cubicBezTo>
                  <a:cubicBezTo>
                    <a:pt x="13442" y="2948"/>
                    <a:pt x="20559" y="0"/>
                    <a:pt x="2798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238857" cy="551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51060" y="3635478"/>
            <a:ext cx="4703785" cy="2056440"/>
            <a:chOff x="0" y="0"/>
            <a:chExt cx="1238857" cy="54161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38857" cy="541614"/>
            </a:xfrm>
            <a:custGeom>
              <a:avLst/>
              <a:gdLst/>
              <a:ahLst/>
              <a:cxnLst/>
              <a:rect r="r" b="b" t="t" l="l"/>
              <a:pathLst>
                <a:path h="541614" w="1238857">
                  <a:moveTo>
                    <a:pt x="27980" y="0"/>
                  </a:moveTo>
                  <a:lnTo>
                    <a:pt x="1210877" y="0"/>
                  </a:lnTo>
                  <a:cubicBezTo>
                    <a:pt x="1218298" y="0"/>
                    <a:pt x="1225415" y="2948"/>
                    <a:pt x="1230662" y="8195"/>
                  </a:cubicBezTo>
                  <a:cubicBezTo>
                    <a:pt x="1235909" y="13442"/>
                    <a:pt x="1238857" y="20559"/>
                    <a:pt x="1238857" y="27980"/>
                  </a:cubicBezTo>
                  <a:lnTo>
                    <a:pt x="1238857" y="513634"/>
                  </a:lnTo>
                  <a:cubicBezTo>
                    <a:pt x="1238857" y="521054"/>
                    <a:pt x="1235909" y="528171"/>
                    <a:pt x="1230662" y="533419"/>
                  </a:cubicBezTo>
                  <a:cubicBezTo>
                    <a:pt x="1225415" y="538666"/>
                    <a:pt x="1218298" y="541614"/>
                    <a:pt x="1210877" y="541614"/>
                  </a:cubicBezTo>
                  <a:lnTo>
                    <a:pt x="27980" y="541614"/>
                  </a:lnTo>
                  <a:cubicBezTo>
                    <a:pt x="20559" y="541614"/>
                    <a:pt x="13442" y="538666"/>
                    <a:pt x="8195" y="533419"/>
                  </a:cubicBezTo>
                  <a:cubicBezTo>
                    <a:pt x="2948" y="528171"/>
                    <a:pt x="0" y="521054"/>
                    <a:pt x="0" y="513634"/>
                  </a:cubicBezTo>
                  <a:lnTo>
                    <a:pt x="0" y="27980"/>
                  </a:lnTo>
                  <a:cubicBezTo>
                    <a:pt x="0" y="20559"/>
                    <a:pt x="2948" y="13442"/>
                    <a:pt x="8195" y="8195"/>
                  </a:cubicBezTo>
                  <a:cubicBezTo>
                    <a:pt x="13442" y="2948"/>
                    <a:pt x="20559" y="0"/>
                    <a:pt x="2798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238857" cy="551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97272" y="3653857"/>
            <a:ext cx="4840946" cy="2772631"/>
            <a:chOff x="0" y="0"/>
            <a:chExt cx="1274982" cy="730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74982" cy="730240"/>
            </a:xfrm>
            <a:custGeom>
              <a:avLst/>
              <a:gdLst/>
              <a:ahLst/>
              <a:cxnLst/>
              <a:rect r="r" b="b" t="t" l="l"/>
              <a:pathLst>
                <a:path h="730240" w="1274982">
                  <a:moveTo>
                    <a:pt x="27187" y="0"/>
                  </a:moveTo>
                  <a:lnTo>
                    <a:pt x="1247794" y="0"/>
                  </a:lnTo>
                  <a:cubicBezTo>
                    <a:pt x="1262810" y="0"/>
                    <a:pt x="1274982" y="12172"/>
                    <a:pt x="1274982" y="27187"/>
                  </a:cubicBezTo>
                  <a:lnTo>
                    <a:pt x="1274982" y="703053"/>
                  </a:lnTo>
                  <a:cubicBezTo>
                    <a:pt x="1274982" y="718068"/>
                    <a:pt x="1262810" y="730240"/>
                    <a:pt x="1247794" y="730240"/>
                  </a:cubicBezTo>
                  <a:lnTo>
                    <a:pt x="27187" y="730240"/>
                  </a:lnTo>
                  <a:cubicBezTo>
                    <a:pt x="12172" y="730240"/>
                    <a:pt x="0" y="718068"/>
                    <a:pt x="0" y="703053"/>
                  </a:cubicBezTo>
                  <a:lnTo>
                    <a:pt x="0" y="27187"/>
                  </a:lnTo>
                  <a:cubicBezTo>
                    <a:pt x="0" y="12172"/>
                    <a:pt x="12172" y="0"/>
                    <a:pt x="27187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lgDash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274982" cy="739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4341130" y="6426682"/>
            <a:ext cx="12149" cy="1190948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triangle" len="med" w="lg"/>
            <a:tailEnd type="triangle" len="med" w="lg"/>
          </a:ln>
        </p:spPr>
      </p:sp>
      <p:sp>
        <p:nvSpPr>
          <p:cNvPr name="TextBox 30" id="30"/>
          <p:cNvSpPr txBox="true"/>
          <p:nvPr/>
        </p:nvSpPr>
        <p:spPr>
          <a:xfrm rot="0">
            <a:off x="12803441" y="7741649"/>
            <a:ext cx="3560855" cy="365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2748" spc="-54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Limited API credits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997573" y="2706245"/>
            <a:ext cx="22283145" cy="211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00"/>
              </a:lnSpc>
            </a:pPr>
            <a:r>
              <a:rPr lang="en-US" b="true" sz="18500" spc="-1850">
                <a:solidFill>
                  <a:srgbClr val="B6B5B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COMPLEX LOGIC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1997573" y="6174210"/>
            <a:ext cx="22283145" cy="211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00"/>
              </a:lnSpc>
            </a:pPr>
            <a:r>
              <a:rPr lang="en-US" b="true" sz="18500" spc="-1850">
                <a:solidFill>
                  <a:srgbClr val="B6B5B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COMPLEX LOGIC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1997573" y="5248016"/>
            <a:ext cx="22283145" cy="211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00"/>
              </a:lnSpc>
            </a:pPr>
            <a:r>
              <a:rPr lang="en-US" b="true" sz="18500" spc="-1850">
                <a:solidFill>
                  <a:srgbClr val="83828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COMPLEX LOGIC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997573" y="3553502"/>
            <a:ext cx="22283145" cy="211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00"/>
              </a:lnSpc>
            </a:pPr>
            <a:r>
              <a:rPr lang="en-US" b="true" sz="18500" spc="-1850">
                <a:solidFill>
                  <a:srgbClr val="83828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COMPLEX LOGIC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997573" y="4400759"/>
            <a:ext cx="22283145" cy="2111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00"/>
              </a:lnSpc>
            </a:pPr>
            <a:r>
              <a:rPr lang="en-US" b="true" sz="18500" spc="-1850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COMPLEX LOGIC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66800"/>
            <a:ext cx="1484444" cy="28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2100" spc="-126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ECON3086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90898" y="1094462"/>
            <a:ext cx="1768402" cy="2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22 April,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23227" y="1089676"/>
            <a:ext cx="4521286" cy="2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Python Programming for FinTech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8996" y="9055735"/>
            <a:ext cx="2663924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Ginni Vishal 22203133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42028" y="9055735"/>
            <a:ext cx="2490298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Fung Dao Wen 22230467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51434" y="9055735"/>
            <a:ext cx="2973781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SADIEV Sherzodbek 22200959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44322" y="9055746"/>
            <a:ext cx="2312539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Thit Htun LIN 23200073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75968" y="9055735"/>
            <a:ext cx="2983332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THANT-THAZIN-EAIN 22202110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46736" y="1026807"/>
            <a:ext cx="1594527" cy="28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 spc="-42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I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13450"/>
            <a:ext cx="5885528" cy="534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9"/>
              </a:lnSpc>
            </a:pPr>
            <a:r>
              <a:rPr lang="en-US" sz="8799" spc="-879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How Does the System Handle Complex Flows?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6920844"/>
            <a:ext cx="6278738" cy="2361955"/>
            <a:chOff x="0" y="0"/>
            <a:chExt cx="8371651" cy="314927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773676"/>
              <a:ext cx="8371651" cy="2375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34"/>
                </a:lnSpc>
              </a:pPr>
              <a:r>
                <a:rPr lang="en-US" sz="2334" spc="-4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if speculative: stop(reason)</a:t>
              </a:r>
            </a:p>
            <a:p>
              <a:pPr algn="l">
                <a:lnSpc>
                  <a:spcPts val="2334"/>
                </a:lnSpc>
              </a:pPr>
              <a:r>
                <a:rPr lang="en-US" sz="2334" spc="-4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qs = plan(event)</a:t>
              </a:r>
            </a:p>
            <a:p>
              <a:pPr algn="l">
                <a:lnSpc>
                  <a:spcPts val="2334"/>
                </a:lnSpc>
              </a:pPr>
              <a:r>
                <a:rPr lang="en-US" sz="2334" spc="-4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 q in parallel: research(q, budget=3)</a:t>
              </a:r>
            </a:p>
            <a:p>
              <a:pPr algn="l">
                <a:lnSpc>
                  <a:spcPts val="2334"/>
                </a:lnSpc>
              </a:pPr>
              <a:r>
                <a:rPr lang="en-US" sz="2334" spc="-4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answers = consolidate(qs)</a:t>
              </a:r>
            </a:p>
            <a:p>
              <a:pPr algn="l">
                <a:lnSpc>
                  <a:spcPts val="2334"/>
                </a:lnSpc>
              </a:pPr>
              <a:r>
                <a:rPr lang="en-US" sz="2334" spc="-4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picks = map_to_markets(answers, markets)</a:t>
              </a:r>
            </a:p>
            <a:p>
              <a:pPr algn="l">
                <a:lnSpc>
                  <a:spcPts val="2334"/>
                </a:lnSpc>
              </a:pPr>
              <a:r>
                <a:rPr lang="en-US" sz="2334" spc="-46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memo = synthesize(answers, picks)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7625"/>
              <a:ext cx="7936435" cy="475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6"/>
                </a:lnSpc>
              </a:pPr>
              <a:r>
                <a:rPr lang="en-US" b="true" sz="2626" spc="-52" u="sng">
                  <a:solidFill>
                    <a:srgbClr val="1E1E1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pseudocode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20901" y="1053434"/>
            <a:ext cx="9838399" cy="1357590"/>
            <a:chOff x="0" y="0"/>
            <a:chExt cx="13117866" cy="181011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647960" y="753328"/>
              <a:ext cx="12469906" cy="44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67"/>
                </a:lnSpc>
              </a:pPr>
              <a:r>
                <a:rPr lang="en-US" b="true" sz="2467" i="true" spc="-49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{ isSpeculative, reason }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7625"/>
              <a:ext cx="11821634" cy="516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US" b="true" sz="2775" spc="-55" u="sng">
                  <a:solidFill>
                    <a:srgbClr val="1E1E1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(1) SPECULATIVE FILTER AS GATE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647960" y="1375563"/>
              <a:ext cx="11821945" cy="434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56"/>
                </a:lnSpc>
              </a:pPr>
              <a:r>
                <a:rPr lang="en-US" sz="2356" spc="-47">
                  <a:solidFill>
                    <a:srgbClr val="1E1E1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single decision short‑circuits the whole workflow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420901" y="2563424"/>
            <a:ext cx="9838399" cy="2427676"/>
            <a:chOff x="0" y="0"/>
            <a:chExt cx="13117866" cy="323690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647960" y="753328"/>
              <a:ext cx="12469906" cy="84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67"/>
                </a:lnSpc>
              </a:pPr>
              <a:r>
                <a:rPr lang="en-US" b="true" sz="2467" i="true" spc="-49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search → LLM judge </a:t>
              </a:r>
              <a:r>
                <a:rPr lang="en-US" sz="2467" spc="-49">
                  <a:solidFill>
                    <a:srgbClr val="FF575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(picks URLs to open (indices + reasons))</a:t>
              </a:r>
              <a:r>
                <a:rPr lang="en-US" b="true" sz="2467" i="true" spc="-49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 → scrape → summarize/relevance → refine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47625"/>
              <a:ext cx="11821634" cy="516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US" b="true" sz="2775" spc="-55" u="sng">
                  <a:solidFill>
                    <a:srgbClr val="1E1E1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(2) SUPERVISOR / SUB-AGENT LOOP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12875" y="2409504"/>
              <a:ext cx="11821945" cy="8273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56"/>
                </a:lnSpc>
              </a:pPr>
              <a:r>
                <a:rPr lang="en-US" sz="2356" spc="-47">
                  <a:solidFill>
                    <a:srgbClr val="1E1E1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Every transition is a row patch, so the UI shows progress without extra plumbing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47960" y="1789378"/>
              <a:ext cx="12469906" cy="44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67"/>
                </a:lnSpc>
              </a:pPr>
              <a:r>
                <a:rPr lang="en-US" b="true" sz="2467" i="true" spc="-49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stop if relevantCount &gt;= target OR iteration &gt;= 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20901" y="5143500"/>
            <a:ext cx="9838399" cy="2300483"/>
            <a:chOff x="0" y="0"/>
            <a:chExt cx="13117866" cy="306731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647960" y="753328"/>
              <a:ext cx="12469906" cy="44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67"/>
                </a:lnSpc>
              </a:pPr>
              <a:r>
                <a:rPr lang="en-US" b="true" sz="2467" i="true" spc="-49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step.runAction per phase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47625"/>
              <a:ext cx="11821634" cy="516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US" b="true" sz="2775" spc="-55" u="sng">
                  <a:solidFill>
                    <a:srgbClr val="1E1E1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(3) DURABILITY + AUDITABILITY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12875" y="2632754"/>
              <a:ext cx="11821945" cy="434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56"/>
                </a:lnSpc>
              </a:pPr>
              <a:r>
                <a:rPr lang="en-US" sz="2356" spc="-47">
                  <a:solidFill>
                    <a:srgbClr val="1E1E1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Refreshing the page resumes the same run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12875" y="1382978"/>
              <a:ext cx="12469906" cy="44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67"/>
                </a:lnSpc>
              </a:pPr>
              <a:r>
                <a:rPr lang="en-US" b="true" sz="2467" i="true" spc="-49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retries on transient failure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12875" y="2012629"/>
              <a:ext cx="12469906" cy="44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67"/>
                </a:lnSpc>
              </a:pPr>
              <a:r>
                <a:rPr lang="en-US" b="true" sz="2467" i="true" spc="-49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full trail persisted in DB tables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420901" y="7597492"/>
            <a:ext cx="9838399" cy="1660808"/>
            <a:chOff x="0" y="0"/>
            <a:chExt cx="13117866" cy="221441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647960" y="753328"/>
              <a:ext cx="12469906" cy="84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67"/>
                </a:lnSpc>
              </a:pPr>
              <a:r>
                <a:rPr lang="en-US" b="true" sz="2467" i="true" spc="-49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Map evidence → actual Polymarket market → produce a side + 0 - 100 conviction + rationale + key risk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47625"/>
              <a:ext cx="11821634" cy="516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US" b="true" sz="2775" spc="-55" u="sng">
                  <a:solidFill>
                    <a:srgbClr val="1E1E1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(4) MARKET MAPPING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12875" y="1779853"/>
              <a:ext cx="11821945" cy="4345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56"/>
                </a:lnSpc>
              </a:pPr>
              <a:r>
                <a:rPr lang="en-US" sz="2356" spc="-47">
                  <a:solidFill>
                    <a:srgbClr val="1E1E1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synthesizer doesn’t just pick YES/NO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736977"/>
            <a:ext cx="5885528" cy="217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9"/>
              </a:lnSpc>
            </a:pPr>
            <a:r>
              <a:rPr lang="en-US" sz="8799" spc="-879" b="true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Extras &amp; Limitations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420901" y="4352259"/>
            <a:ext cx="9838399" cy="3032732"/>
            <a:chOff x="0" y="0"/>
            <a:chExt cx="13117866" cy="404364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47625"/>
              <a:ext cx="11821634" cy="516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US" b="true" sz="2775" spc="-55" u="sng">
                  <a:solidFill>
                    <a:srgbClr val="1E1E1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(2) WHAT WE DIDN'T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635038" y="1653687"/>
              <a:ext cx="12221229" cy="12534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7"/>
                </a:lnSpc>
              </a:pPr>
              <a:r>
                <a:rPr lang="en-US" b="true" sz="2417" i="true" spc="-48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research assistant — not trading advice</a:t>
              </a:r>
            </a:p>
            <a:p>
              <a:pPr algn="l">
                <a:lnSpc>
                  <a:spcPts val="2417"/>
                </a:lnSpc>
              </a:pPr>
            </a:p>
            <a:p>
              <a:pPr algn="l">
                <a:lnSpc>
                  <a:spcPts val="2417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635038" y="611519"/>
              <a:ext cx="12221229" cy="12534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7"/>
                </a:lnSpc>
              </a:pPr>
              <a:r>
                <a:rPr lang="en-US" b="true" sz="2417" i="true" spc="-48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bounded by Firecrawl recall + LLM judgment</a:t>
              </a:r>
            </a:p>
            <a:p>
              <a:pPr algn="l">
                <a:lnSpc>
                  <a:spcPts val="2417"/>
                </a:lnSpc>
              </a:pPr>
            </a:p>
            <a:p>
              <a:pPr algn="l">
                <a:lnSpc>
                  <a:spcPts val="2417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35038" y="2695856"/>
              <a:ext cx="12221229" cy="12534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7"/>
                </a:lnSpc>
              </a:pPr>
              <a:r>
                <a:rPr lang="en-US" b="true" sz="2417" i="true" spc="-48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budget caps can exhaust before evidence converges</a:t>
              </a:r>
            </a:p>
            <a:p>
              <a:pPr algn="l">
                <a:lnSpc>
                  <a:spcPts val="2417"/>
                </a:lnSpc>
              </a:pPr>
            </a:p>
            <a:p>
              <a:pPr algn="l">
                <a:lnSpc>
                  <a:spcPts val="2417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35038" y="3233504"/>
              <a:ext cx="12482827" cy="8101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9"/>
                </a:lnSpc>
              </a:pPr>
              <a:r>
                <a:rPr lang="en-US" sz="2309" spc="-46">
                  <a:solidFill>
                    <a:srgbClr val="1E1E1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Some questions end with insufficient public evidence.</a:t>
              </a:r>
            </a:p>
            <a:p>
              <a:pPr algn="l">
                <a:lnSpc>
                  <a:spcPts val="2309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635038" y="1075079"/>
              <a:ext cx="12482827" cy="8101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9"/>
                </a:lnSpc>
              </a:pPr>
              <a:r>
                <a:rPr lang="en-US" sz="2309" spc="-46">
                  <a:solidFill>
                    <a:srgbClr val="1E1E1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Paywalled or very recent sources can be missed.</a:t>
              </a:r>
            </a:p>
            <a:p>
              <a:pPr algn="l">
                <a:lnSpc>
                  <a:spcPts val="2309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635038" y="2122510"/>
              <a:ext cx="12482827" cy="8101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9"/>
                </a:lnSpc>
              </a:pPr>
              <a:r>
                <a:rPr lang="en-US" sz="2309" spc="-46">
                  <a:solidFill>
                    <a:srgbClr val="1E1E1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 execution; the user still makes the call.</a:t>
              </a:r>
            </a:p>
            <a:p>
              <a:pPr algn="l">
                <a:lnSpc>
                  <a:spcPts val="230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0901" y="7384991"/>
            <a:ext cx="9642201" cy="1703533"/>
            <a:chOff x="0" y="0"/>
            <a:chExt cx="12856268" cy="2271378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47625"/>
              <a:ext cx="11821634" cy="516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US" b="true" sz="2775" spc="-55" u="sng">
                  <a:solidFill>
                    <a:srgbClr val="1E1E1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(3) WHAT'S NEXT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35038" y="611519"/>
              <a:ext cx="12221229" cy="1659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7"/>
                </a:lnSpc>
              </a:pPr>
              <a:r>
                <a:rPr lang="en-US" b="true" sz="2417" i="true" spc="-48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backtesting on resolved markets ·  recency-weighted scoring  · citation-level UI  ·  chat-with-this-memo via reused threads</a:t>
              </a:r>
            </a:p>
            <a:p>
              <a:pPr algn="l">
                <a:lnSpc>
                  <a:spcPts val="241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20901" y="1446942"/>
            <a:ext cx="9838399" cy="2735542"/>
            <a:chOff x="0" y="0"/>
            <a:chExt cx="13117866" cy="364739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47625"/>
              <a:ext cx="11585886" cy="505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0"/>
                </a:lnSpc>
              </a:pPr>
              <a:r>
                <a:rPr lang="en-US" b="true" sz="2720" spc="-54" u="sng">
                  <a:solidFill>
                    <a:srgbClr val="1E1E1E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(1) WHAT WE SHIPPED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35038" y="1642442"/>
              <a:ext cx="12221229" cy="12534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7"/>
                </a:lnSpc>
              </a:pPr>
              <a:r>
                <a:rPr lang="en-US" b="true" sz="2417" i="true" spc="-48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debug log feed (researchLogs)</a:t>
              </a:r>
            </a:p>
            <a:p>
              <a:pPr algn="l">
                <a:lnSpc>
                  <a:spcPts val="2417"/>
                </a:lnSpc>
              </a:pPr>
            </a:p>
            <a:p>
              <a:pPr algn="l">
                <a:lnSpc>
                  <a:spcPts val="2417"/>
                </a:lnSpc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35038" y="600274"/>
              <a:ext cx="12221229" cy="84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7"/>
                </a:lnSpc>
              </a:pPr>
              <a:r>
                <a:rPr lang="en-US" b="true" sz="2417" i="true" spc="-48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auth-gated runs + per-user ownership + cancel button</a:t>
              </a:r>
            </a:p>
            <a:p>
              <a:pPr algn="l">
                <a:lnSpc>
                  <a:spcPts val="2417"/>
                </a:lnSpc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35038" y="2684611"/>
              <a:ext cx="12221229" cy="84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7"/>
                </a:lnSpc>
              </a:pPr>
              <a:r>
                <a:rPr lang="en-US" b="true" sz="2417" i="true" spc="-48">
                  <a:solidFill>
                    <a:srgbClr val="FF5757"/>
                  </a:solidFill>
                  <a:latin typeface="Montserrat Bold Italics"/>
                  <a:ea typeface="Montserrat Bold Italics"/>
                  <a:cs typeface="Montserrat Bold Italics"/>
                  <a:sym typeface="Montserrat Bold Italics"/>
                </a:rPr>
                <a:t>modular UI — analyze-panel/ split</a:t>
              </a:r>
            </a:p>
            <a:p>
              <a:pPr algn="l">
                <a:lnSpc>
                  <a:spcPts val="2417"/>
                </a:lnSpc>
              </a:pP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35038" y="3222259"/>
              <a:ext cx="12482827" cy="425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9"/>
                </a:lnSpc>
              </a:pPr>
              <a:r>
                <a:rPr lang="en-US" sz="2309" spc="-46">
                  <a:solidFill>
                    <a:srgbClr val="1E1E1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Empty state, run header, memo, picks, question timeline, logs.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35038" y="1063834"/>
              <a:ext cx="12482827" cy="8101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9"/>
                </a:lnSpc>
              </a:pPr>
              <a:r>
                <a:rPr lang="en-US" sz="2309" spc="-46">
                  <a:solidFill>
                    <a:srgbClr val="1E1E1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Wired directly to workflow cancel.</a:t>
              </a:r>
            </a:p>
            <a:p>
              <a:pPr algn="l">
                <a:lnSpc>
                  <a:spcPts val="2309"/>
                </a:lnSpc>
              </a:pP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35038" y="2111265"/>
              <a:ext cx="12482827" cy="8101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9"/>
                </a:lnSpc>
              </a:pPr>
              <a:r>
                <a:rPr lang="en-US" sz="2309" spc="-46">
                  <a:solidFill>
                    <a:srgbClr val="1E1E1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Transparent live view during the demo.</a:t>
              </a:r>
            </a:p>
            <a:p>
              <a:pPr algn="l">
                <a:lnSpc>
                  <a:spcPts val="230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71822" y="558997"/>
            <a:ext cx="4309525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2099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249045" y="619322"/>
            <a:ext cx="1768402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9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22 Apr, 2026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1822" y="403740"/>
            <a:ext cx="4309525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2099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Wrap-up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2460" y="2868521"/>
            <a:ext cx="7099779" cy="2083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9"/>
              </a:lnSpc>
            </a:pPr>
            <a:r>
              <a:rPr lang="en-US" sz="9699" spc="-969" b="true">
                <a:solidFill>
                  <a:srgbClr val="285B5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Aperture</a:t>
            </a:r>
          </a:p>
          <a:p>
            <a:pPr algn="l">
              <a:lnSpc>
                <a:spcPts val="775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249045" y="619322"/>
            <a:ext cx="1768402" cy="20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95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22 Apr,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2460" y="4286378"/>
            <a:ext cx="8967193" cy="107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spc="-55" b="true">
                <a:solidFill>
                  <a:srgbClr val="1E1E1E"/>
                </a:solidFill>
                <a:latin typeface="Aileron Bold"/>
                <a:ea typeface="Aileron Bold"/>
                <a:cs typeface="Aileron Bold"/>
                <a:sym typeface="Aileron Bold"/>
              </a:rPr>
              <a:t>scattered web evidence → a durable, reactive research workflow.</a:t>
            </a:r>
          </a:p>
          <a:p>
            <a:pPr algn="l">
              <a:lnSpc>
                <a:spcPts val="27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968508" y="8583543"/>
            <a:ext cx="2060925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the loop, end to end</a:t>
            </a:r>
          </a:p>
          <a:p>
            <a:pPr algn="r">
              <a:lnSpc>
                <a:spcPts val="179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42460" y="5405247"/>
            <a:ext cx="8967193" cy="1273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520" spc="-5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We turned Polymarket event data and open-web sources into a pipeline that </a:t>
            </a:r>
            <a:r>
              <a:rPr lang="en-US" sz="2520" spc="-5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classifies</a:t>
            </a:r>
            <a:r>
              <a:rPr lang="en-US" sz="2520" spc="-5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the event, </a:t>
            </a:r>
            <a:r>
              <a:rPr lang="en-US" sz="2520" spc="-5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cites</a:t>
            </a:r>
            <a:r>
              <a:rPr lang="en-US" sz="2520" spc="-5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its sources, and </a:t>
            </a:r>
            <a:r>
              <a:rPr lang="en-US" sz="2520" spc="-50">
                <a:solidFill>
                  <a:srgbClr val="FF5757"/>
                </a:solidFill>
                <a:latin typeface="Montserrat"/>
                <a:ea typeface="Montserrat"/>
                <a:cs typeface="Montserrat"/>
                <a:sym typeface="Montserrat"/>
              </a:rPr>
              <a:t>recommends</a:t>
            </a:r>
            <a:r>
              <a:rPr lang="en-US" sz="2520" spc="-50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 a market and a side.</a:t>
            </a:r>
          </a:p>
          <a:p>
            <a:pPr algn="just">
              <a:lnSpc>
                <a:spcPts val="252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0864694" y="2527203"/>
            <a:ext cx="6268553" cy="5232594"/>
            <a:chOff x="0" y="0"/>
            <a:chExt cx="8358070" cy="697679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353347" cy="857947"/>
              <a:chOff x="0" y="0"/>
              <a:chExt cx="1650044" cy="16947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650044" cy="169471"/>
              </a:xfrm>
              <a:custGeom>
                <a:avLst/>
                <a:gdLst/>
                <a:ahLst/>
                <a:cxnLst/>
                <a:rect r="r" b="b" t="t" l="l"/>
                <a:pathLst>
                  <a:path h="169471" w="1650044">
                    <a:moveTo>
                      <a:pt x="9886" y="0"/>
                    </a:moveTo>
                    <a:lnTo>
                      <a:pt x="1640158" y="0"/>
                    </a:lnTo>
                    <a:cubicBezTo>
                      <a:pt x="1645618" y="0"/>
                      <a:pt x="1650044" y="4426"/>
                      <a:pt x="1650044" y="9886"/>
                    </a:cubicBezTo>
                    <a:lnTo>
                      <a:pt x="1650044" y="159585"/>
                    </a:lnTo>
                    <a:cubicBezTo>
                      <a:pt x="1650044" y="162207"/>
                      <a:pt x="1649002" y="164721"/>
                      <a:pt x="1647148" y="166575"/>
                    </a:cubicBezTo>
                    <a:cubicBezTo>
                      <a:pt x="1645294" y="168429"/>
                      <a:pt x="1642780" y="169471"/>
                      <a:pt x="1640158" y="169471"/>
                    </a:cubicBezTo>
                    <a:lnTo>
                      <a:pt x="9886" y="169471"/>
                    </a:lnTo>
                    <a:cubicBezTo>
                      <a:pt x="7264" y="169471"/>
                      <a:pt x="4749" y="168429"/>
                      <a:pt x="2896" y="166575"/>
                    </a:cubicBezTo>
                    <a:cubicBezTo>
                      <a:pt x="1042" y="164721"/>
                      <a:pt x="0" y="162207"/>
                      <a:pt x="0" y="159585"/>
                    </a:cubicBezTo>
                    <a:lnTo>
                      <a:pt x="0" y="9886"/>
                    </a:lnTo>
                    <a:cubicBezTo>
                      <a:pt x="0" y="7264"/>
                      <a:pt x="1042" y="4749"/>
                      <a:pt x="2896" y="2896"/>
                    </a:cubicBezTo>
                    <a:cubicBezTo>
                      <a:pt x="4749" y="1042"/>
                      <a:pt x="7264" y="0"/>
                      <a:pt x="9886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28575"/>
                <a:ext cx="1650044" cy="1408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  <a:r>
                  <a:rPr lang="en-US" sz="1800" spc="-36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Classify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4723" y="1529711"/>
              <a:ext cx="8353347" cy="857947"/>
              <a:chOff x="0" y="0"/>
              <a:chExt cx="1650044" cy="16947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50044" cy="169471"/>
              </a:xfrm>
              <a:custGeom>
                <a:avLst/>
                <a:gdLst/>
                <a:ahLst/>
                <a:cxnLst/>
                <a:rect r="r" b="b" t="t" l="l"/>
                <a:pathLst>
                  <a:path h="169471" w="1650044">
                    <a:moveTo>
                      <a:pt x="9886" y="0"/>
                    </a:moveTo>
                    <a:lnTo>
                      <a:pt x="1640158" y="0"/>
                    </a:lnTo>
                    <a:cubicBezTo>
                      <a:pt x="1645618" y="0"/>
                      <a:pt x="1650044" y="4426"/>
                      <a:pt x="1650044" y="9886"/>
                    </a:cubicBezTo>
                    <a:lnTo>
                      <a:pt x="1650044" y="159585"/>
                    </a:lnTo>
                    <a:cubicBezTo>
                      <a:pt x="1650044" y="162207"/>
                      <a:pt x="1649002" y="164721"/>
                      <a:pt x="1647148" y="166575"/>
                    </a:cubicBezTo>
                    <a:cubicBezTo>
                      <a:pt x="1645294" y="168429"/>
                      <a:pt x="1642780" y="169471"/>
                      <a:pt x="1640158" y="169471"/>
                    </a:cubicBezTo>
                    <a:lnTo>
                      <a:pt x="9886" y="169471"/>
                    </a:lnTo>
                    <a:cubicBezTo>
                      <a:pt x="7264" y="169471"/>
                      <a:pt x="4749" y="168429"/>
                      <a:pt x="2896" y="166575"/>
                    </a:cubicBezTo>
                    <a:cubicBezTo>
                      <a:pt x="1042" y="164721"/>
                      <a:pt x="0" y="162207"/>
                      <a:pt x="0" y="159585"/>
                    </a:cubicBezTo>
                    <a:lnTo>
                      <a:pt x="0" y="9886"/>
                    </a:lnTo>
                    <a:cubicBezTo>
                      <a:pt x="0" y="7264"/>
                      <a:pt x="1042" y="4749"/>
                      <a:pt x="2896" y="2896"/>
                    </a:cubicBezTo>
                    <a:cubicBezTo>
                      <a:pt x="4749" y="1042"/>
                      <a:pt x="7264" y="0"/>
                      <a:pt x="9886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28575"/>
                <a:ext cx="1650044" cy="1408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  <a:r>
                  <a:rPr lang="en-US" sz="1800" spc="-36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Plan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4723" y="3059423"/>
              <a:ext cx="8353347" cy="857947"/>
              <a:chOff x="0" y="0"/>
              <a:chExt cx="1650044" cy="16947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650044" cy="169471"/>
              </a:xfrm>
              <a:custGeom>
                <a:avLst/>
                <a:gdLst/>
                <a:ahLst/>
                <a:cxnLst/>
                <a:rect r="r" b="b" t="t" l="l"/>
                <a:pathLst>
                  <a:path h="169471" w="1650044">
                    <a:moveTo>
                      <a:pt x="9886" y="0"/>
                    </a:moveTo>
                    <a:lnTo>
                      <a:pt x="1640158" y="0"/>
                    </a:lnTo>
                    <a:cubicBezTo>
                      <a:pt x="1645618" y="0"/>
                      <a:pt x="1650044" y="4426"/>
                      <a:pt x="1650044" y="9886"/>
                    </a:cubicBezTo>
                    <a:lnTo>
                      <a:pt x="1650044" y="159585"/>
                    </a:lnTo>
                    <a:cubicBezTo>
                      <a:pt x="1650044" y="162207"/>
                      <a:pt x="1649002" y="164721"/>
                      <a:pt x="1647148" y="166575"/>
                    </a:cubicBezTo>
                    <a:cubicBezTo>
                      <a:pt x="1645294" y="168429"/>
                      <a:pt x="1642780" y="169471"/>
                      <a:pt x="1640158" y="169471"/>
                    </a:cubicBezTo>
                    <a:lnTo>
                      <a:pt x="9886" y="169471"/>
                    </a:lnTo>
                    <a:cubicBezTo>
                      <a:pt x="7264" y="169471"/>
                      <a:pt x="4749" y="168429"/>
                      <a:pt x="2896" y="166575"/>
                    </a:cubicBezTo>
                    <a:cubicBezTo>
                      <a:pt x="1042" y="164721"/>
                      <a:pt x="0" y="162207"/>
                      <a:pt x="0" y="159585"/>
                    </a:cubicBezTo>
                    <a:lnTo>
                      <a:pt x="0" y="9886"/>
                    </a:lnTo>
                    <a:cubicBezTo>
                      <a:pt x="0" y="7264"/>
                      <a:pt x="1042" y="4749"/>
                      <a:pt x="2896" y="2896"/>
                    </a:cubicBezTo>
                    <a:cubicBezTo>
                      <a:pt x="4749" y="1042"/>
                      <a:pt x="7264" y="0"/>
                      <a:pt x="9886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28575"/>
                <a:ext cx="1650044" cy="1408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  <a:r>
                  <a:rPr lang="en-US" sz="1800" spc="-36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Search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4723" y="4589134"/>
              <a:ext cx="8353347" cy="857947"/>
              <a:chOff x="0" y="0"/>
              <a:chExt cx="1650044" cy="16947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650044" cy="169471"/>
              </a:xfrm>
              <a:custGeom>
                <a:avLst/>
                <a:gdLst/>
                <a:ahLst/>
                <a:cxnLst/>
                <a:rect r="r" b="b" t="t" l="l"/>
                <a:pathLst>
                  <a:path h="169471" w="1650044">
                    <a:moveTo>
                      <a:pt x="9886" y="0"/>
                    </a:moveTo>
                    <a:lnTo>
                      <a:pt x="1640158" y="0"/>
                    </a:lnTo>
                    <a:cubicBezTo>
                      <a:pt x="1645618" y="0"/>
                      <a:pt x="1650044" y="4426"/>
                      <a:pt x="1650044" y="9886"/>
                    </a:cubicBezTo>
                    <a:lnTo>
                      <a:pt x="1650044" y="159585"/>
                    </a:lnTo>
                    <a:cubicBezTo>
                      <a:pt x="1650044" y="162207"/>
                      <a:pt x="1649002" y="164721"/>
                      <a:pt x="1647148" y="166575"/>
                    </a:cubicBezTo>
                    <a:cubicBezTo>
                      <a:pt x="1645294" y="168429"/>
                      <a:pt x="1642780" y="169471"/>
                      <a:pt x="1640158" y="169471"/>
                    </a:cubicBezTo>
                    <a:lnTo>
                      <a:pt x="9886" y="169471"/>
                    </a:lnTo>
                    <a:cubicBezTo>
                      <a:pt x="7264" y="169471"/>
                      <a:pt x="4749" y="168429"/>
                      <a:pt x="2896" y="166575"/>
                    </a:cubicBezTo>
                    <a:cubicBezTo>
                      <a:pt x="1042" y="164721"/>
                      <a:pt x="0" y="162207"/>
                      <a:pt x="0" y="159585"/>
                    </a:cubicBezTo>
                    <a:lnTo>
                      <a:pt x="0" y="9886"/>
                    </a:lnTo>
                    <a:cubicBezTo>
                      <a:pt x="0" y="7264"/>
                      <a:pt x="1042" y="4749"/>
                      <a:pt x="2896" y="2896"/>
                    </a:cubicBezTo>
                    <a:cubicBezTo>
                      <a:pt x="4749" y="1042"/>
                      <a:pt x="7264" y="0"/>
                      <a:pt x="9886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1650044" cy="1408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  <a:r>
                  <a:rPr lang="en-US" sz="1800" spc="-36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Synthesize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4723" y="6118845"/>
              <a:ext cx="8353347" cy="857947"/>
              <a:chOff x="0" y="0"/>
              <a:chExt cx="1650044" cy="16947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650044" cy="169471"/>
              </a:xfrm>
              <a:custGeom>
                <a:avLst/>
                <a:gdLst/>
                <a:ahLst/>
                <a:cxnLst/>
                <a:rect r="r" b="b" t="t" l="l"/>
                <a:pathLst>
                  <a:path h="169471" w="1650044">
                    <a:moveTo>
                      <a:pt x="9886" y="0"/>
                    </a:moveTo>
                    <a:lnTo>
                      <a:pt x="1640158" y="0"/>
                    </a:lnTo>
                    <a:cubicBezTo>
                      <a:pt x="1645618" y="0"/>
                      <a:pt x="1650044" y="4426"/>
                      <a:pt x="1650044" y="9886"/>
                    </a:cubicBezTo>
                    <a:lnTo>
                      <a:pt x="1650044" y="159585"/>
                    </a:lnTo>
                    <a:cubicBezTo>
                      <a:pt x="1650044" y="162207"/>
                      <a:pt x="1649002" y="164721"/>
                      <a:pt x="1647148" y="166575"/>
                    </a:cubicBezTo>
                    <a:cubicBezTo>
                      <a:pt x="1645294" y="168429"/>
                      <a:pt x="1642780" y="169471"/>
                      <a:pt x="1640158" y="169471"/>
                    </a:cubicBezTo>
                    <a:lnTo>
                      <a:pt x="9886" y="169471"/>
                    </a:lnTo>
                    <a:cubicBezTo>
                      <a:pt x="7264" y="169471"/>
                      <a:pt x="4749" y="168429"/>
                      <a:pt x="2896" y="166575"/>
                    </a:cubicBezTo>
                    <a:cubicBezTo>
                      <a:pt x="1042" y="164721"/>
                      <a:pt x="0" y="162207"/>
                      <a:pt x="0" y="159585"/>
                    </a:cubicBezTo>
                    <a:lnTo>
                      <a:pt x="0" y="9886"/>
                    </a:lnTo>
                    <a:cubicBezTo>
                      <a:pt x="0" y="7264"/>
                      <a:pt x="1042" y="4749"/>
                      <a:pt x="2896" y="2896"/>
                    </a:cubicBezTo>
                    <a:cubicBezTo>
                      <a:pt x="4749" y="1042"/>
                      <a:pt x="7264" y="0"/>
                      <a:pt x="9886" y="0"/>
                    </a:cubicBezTo>
                    <a:close/>
                  </a:path>
                </a:pathLst>
              </a:custGeom>
              <a:solidFill>
                <a:srgbClr val="F4F4F4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28575"/>
                <a:ext cx="1650044" cy="1408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00"/>
                  </a:lnSpc>
                </a:pPr>
                <a:r>
                  <a:rPr lang="en-US" sz="1800" spc="-36">
                    <a:solidFill>
                      <a:srgbClr val="000000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Recommend</a:t>
                </a:r>
              </a:p>
            </p:txBody>
          </p:sp>
        </p:grpSp>
        <p:sp>
          <p:nvSpPr>
            <p:cNvPr name="AutoShape 24" id="24"/>
            <p:cNvSpPr/>
            <p:nvPr/>
          </p:nvSpPr>
          <p:spPr>
            <a:xfrm>
              <a:off x="4176673" y="857947"/>
              <a:ext cx="4723" cy="671765"/>
            </a:xfrm>
            <a:prstGeom prst="line">
              <a:avLst/>
            </a:prstGeom>
            <a:ln cap="flat" w="25400">
              <a:solidFill>
                <a:srgbClr val="838282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4181397" y="2387658"/>
              <a:ext cx="0" cy="671765"/>
            </a:xfrm>
            <a:prstGeom prst="line">
              <a:avLst/>
            </a:prstGeom>
            <a:ln cap="flat" w="25400">
              <a:solidFill>
                <a:srgbClr val="838282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6" id="26"/>
            <p:cNvSpPr/>
            <p:nvPr/>
          </p:nvSpPr>
          <p:spPr>
            <a:xfrm flipH="true">
              <a:off x="4181397" y="3917369"/>
              <a:ext cx="0" cy="671765"/>
            </a:xfrm>
            <a:prstGeom prst="line">
              <a:avLst/>
            </a:prstGeom>
            <a:ln cap="flat" w="25400">
              <a:solidFill>
                <a:srgbClr val="838282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7" id="27"/>
            <p:cNvSpPr/>
            <p:nvPr/>
          </p:nvSpPr>
          <p:spPr>
            <a:xfrm flipH="true">
              <a:off x="4181397" y="5447081"/>
              <a:ext cx="0" cy="671765"/>
            </a:xfrm>
            <a:prstGeom prst="line">
              <a:avLst/>
            </a:prstGeom>
            <a:ln cap="flat" w="25400">
              <a:solidFill>
                <a:srgbClr val="838282"/>
              </a:solidFill>
              <a:prstDash val="solid"/>
              <a:headEnd type="none" len="sm" w="sm"/>
              <a:tailEnd type="triangle" len="med" w="lg"/>
            </a:ln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997573" y="2355815"/>
            <a:ext cx="22283145" cy="327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9"/>
              </a:lnSpc>
            </a:pPr>
            <a:r>
              <a:rPr lang="en-US" b="true" sz="28599" spc="-2859">
                <a:solidFill>
                  <a:srgbClr val="B6B5B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-1997573" y="5744844"/>
            <a:ext cx="22283145" cy="327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9"/>
              </a:lnSpc>
            </a:pPr>
            <a:r>
              <a:rPr lang="en-US" b="true" sz="28599" spc="-2859">
                <a:solidFill>
                  <a:srgbClr val="B6B5B5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1997573" y="4897587"/>
            <a:ext cx="22283145" cy="327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9"/>
              </a:lnSpc>
            </a:pPr>
            <a:r>
              <a:rPr lang="en-US" b="true" sz="28599" spc="-2859">
                <a:solidFill>
                  <a:srgbClr val="83828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1997573" y="3203072"/>
            <a:ext cx="22283145" cy="327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9"/>
              </a:lnSpc>
            </a:pPr>
            <a:r>
              <a:rPr lang="en-US" b="true" sz="28599" spc="-2859">
                <a:solidFill>
                  <a:srgbClr val="83828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281619" y="3966127"/>
            <a:ext cx="21567192" cy="327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79"/>
              </a:lnSpc>
            </a:pPr>
            <a:r>
              <a:rPr lang="en-US" b="true" sz="28599" spc="-2859">
                <a:solidFill>
                  <a:srgbClr val="1E1E1E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66800"/>
            <a:ext cx="1484444" cy="28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2100" spc="-126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ECON3086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90898" y="1094462"/>
            <a:ext cx="1768402" cy="2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22 April,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23227" y="1089676"/>
            <a:ext cx="4521286" cy="22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799" spc="-107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Python Programming for FinTech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8996" y="9055735"/>
            <a:ext cx="2663924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Ginni Vishal 22203133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42028" y="9055735"/>
            <a:ext cx="2490298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Fung Dao Wen 22230467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51434" y="9055735"/>
            <a:ext cx="2973781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SADIEV Sherzodbek 22200959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44322" y="9055746"/>
            <a:ext cx="2312539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Thit Htun LIN 23200073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75968" y="9055735"/>
            <a:ext cx="2983332" cy="20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"/>
              </a:lnSpc>
            </a:pPr>
            <a:r>
              <a:rPr lang="en-US" sz="1599" spc="-31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THANT-THAZIN-EAIN 22202110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46736" y="1026807"/>
            <a:ext cx="1594527" cy="28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 spc="-42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DAHHSFB6eQ8</dc:identifier>
  <dcterms:modified xsi:type="dcterms:W3CDTF">2011-08-01T06:04:30Z</dcterms:modified>
  <cp:revision>1</cp:revision>
  <dc:title>ECON3086 Group Presentation</dc:title>
</cp:coreProperties>
</file>